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3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89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12" Type="http://schemas.openxmlformats.org/officeDocument/2006/relationships/image" Target="../media/image18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4754880"/>
          </a:xfrm>
          <a:prstGeom prst="ellipse">
            <a:avLst/>
          </a:prstGeom>
          <a:ln w="12700">
            <a:solidFill>
              <a:srgbClr val="22D3E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2926080"/>
          </a:xfrm>
          <a:prstGeom prst="ellipse">
            <a:avLst/>
          </a:prstGeom>
          <a:ln w="12700">
            <a:solidFill>
              <a:srgbClr val="34D399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732520" y="16459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2400300"/>
            <a:ext cx="2743200" cy="2743200"/>
          </a:xfrm>
          <a:prstGeom prst="ellipse">
            <a:avLst/>
          </a:prstGeom>
          <a:ln w="12700">
            <a:solidFill>
              <a:srgbClr val="22D3E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 PROJECT  •  AI ENGINEERING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HR Management System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566928" y="2212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 +  FastAPI  +  AI Agents  +  RAG  +  Analytics  +  LangGraph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6928" y="2670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Adhiraj Singh Chauhan</a:t>
            </a:r>
            <a:r>
              <a:rPr lang="en-US" sz="1300" dirty="0">
                <a:solidFill>
                  <a:srgbClr val="9FB3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Course / Week 3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9F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280160" cy="1143000"/>
          </a:xfrm>
          <a:prstGeom prst="roundRect">
            <a:avLst>
              <a:gd name="adj" fmla="val 8000"/>
            </a:avLst>
          </a:prstGeom>
          <a:solidFill>
            <a:srgbClr val="0A1733"/>
          </a:solidFill>
          <a:ln w="15875">
            <a:solidFill>
              <a:srgbClr val="2A4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images/image-08f4e217c37fd78673293ec2e3dcf51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648456"/>
            <a:ext cx="603504" cy="6035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47088" y="3520440"/>
            <a:ext cx="1280160" cy="1143000"/>
          </a:xfrm>
          <a:prstGeom prst="roundRect">
            <a:avLst>
              <a:gd name="adj" fmla="val 8000"/>
            </a:avLst>
          </a:prstGeom>
          <a:solidFill>
            <a:srgbClr val="0A1733"/>
          </a:solidFill>
          <a:ln w="15875">
            <a:solidFill>
              <a:srgbClr val="2A4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images/image-757cbf33b9a8ebc1781290453cf4eb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6" y="3648456"/>
            <a:ext cx="603504" cy="6035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47088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36976" y="3520440"/>
            <a:ext cx="1280160" cy="1143000"/>
          </a:xfrm>
          <a:prstGeom prst="roundRect">
            <a:avLst>
              <a:gd name="adj" fmla="val 8000"/>
            </a:avLst>
          </a:prstGeom>
          <a:solidFill>
            <a:srgbClr val="0A1733"/>
          </a:solidFill>
          <a:ln w="15875">
            <a:solidFill>
              <a:srgbClr val="2A4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images/image-cb188678887af5ebd0c7e88efd6b294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648456"/>
            <a:ext cx="603504" cy="6035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36976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26864" y="3520440"/>
            <a:ext cx="1280160" cy="1143000"/>
          </a:xfrm>
          <a:prstGeom prst="roundRect">
            <a:avLst>
              <a:gd name="adj" fmla="val 8000"/>
            </a:avLst>
          </a:prstGeom>
          <a:solidFill>
            <a:srgbClr val="0A1733"/>
          </a:solidFill>
          <a:ln w="15875">
            <a:solidFill>
              <a:srgbClr val="2A4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images/image-4148f013538481ab8b898c4a0767fc9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6165" y="3648456"/>
            <a:ext cx="581558" cy="6035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26864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016752" y="3520440"/>
            <a:ext cx="1280160" cy="1143000"/>
          </a:xfrm>
          <a:prstGeom prst="roundRect">
            <a:avLst>
              <a:gd name="adj" fmla="val 8000"/>
            </a:avLst>
          </a:prstGeom>
          <a:solidFill>
            <a:srgbClr val="0A1733"/>
          </a:solidFill>
          <a:ln w="15875">
            <a:solidFill>
              <a:srgbClr val="2A4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images/image-ea95dc7634b239ff6dfe94ac56ff8c3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648456"/>
            <a:ext cx="603504" cy="6035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16752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7406640" y="3520440"/>
            <a:ext cx="1280160" cy="1143000"/>
          </a:xfrm>
          <a:prstGeom prst="roundRect">
            <a:avLst>
              <a:gd name="adj" fmla="val 8000"/>
            </a:avLst>
          </a:prstGeom>
          <a:solidFill>
            <a:srgbClr val="0A1733"/>
          </a:solidFill>
          <a:ln w="15875">
            <a:solidFill>
              <a:srgbClr val="2A4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5" descr="images/image-a42a34fe39465397c1b06be7e02df5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3648456"/>
            <a:ext cx="603504" cy="60350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06640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ot A"/>
          <p:cNvSpPr/>
          <p:nvPr/>
        </p:nvSpPr>
        <p:spPr>
          <a:xfrm>
            <a:off x="8321040" y="411480"/>
            <a:ext cx="146304" cy="146304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Dot B"/>
          <p:cNvSpPr/>
          <p:nvPr/>
        </p:nvSpPr>
        <p:spPr>
          <a:xfrm>
            <a:off x="8001000" y="658368"/>
            <a:ext cx="91440" cy="91440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Kicker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25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02  •  THE PROBLEM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Problem Statement</a:t>
            </a:r>
            <a:endParaRPr lang="en-US"/>
          </a:p>
        </p:txBody>
      </p:sp>
      <p:sp>
        <p:nvSpPr>
          <p:cNvPr id="4" name="Subhead"/>
          <p:cNvSpPr/>
          <p:nvPr/>
        </p:nvSpPr>
        <p:spPr>
          <a:xfrm>
            <a:off x="548640" y="137160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en-US" sz="14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HR data lives in many disconnected systems. Users shouldn’t search each one — they should ask a single question and get the right answer.</a:t>
            </a:r>
            <a:endParaRPr lang="en-US"/>
          </a:p>
        </p:txBody>
      </p:sp>
      <p:sp>
        <p:nvSpPr>
          <p:cNvPr id="5" name="Left Header"/>
          <p:cNvSpPr/>
          <p:nvPr/>
        </p:nvSpPr>
        <p:spPr>
          <a:xfrm>
            <a:off x="548640" y="21031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50" b="1" spc="20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HR DATA IS SCATTERED</a:t>
            </a:r>
            <a:endParaRPr lang="en-US"/>
          </a:p>
        </p:txBody>
      </p:sp>
      <p:sp>
        <p:nvSpPr>
          <p:cNvPr id="6" name="Chip 1"/>
          <p:cNvSpPr/>
          <p:nvPr/>
        </p:nvSpPr>
        <p:spPr>
          <a:xfrm>
            <a:off x="548640" y="2487168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Employee records</a:t>
            </a:r>
            <a:endParaRPr lang="en-US"/>
          </a:p>
        </p:txBody>
      </p:sp>
      <p:sp>
        <p:nvSpPr>
          <p:cNvPr id="7" name="Chip 2"/>
          <p:cNvSpPr/>
          <p:nvPr/>
        </p:nvSpPr>
        <p:spPr>
          <a:xfrm>
            <a:off x="548640" y="3054096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Attendance</a:t>
            </a:r>
            <a:endParaRPr lang="en-US"/>
          </a:p>
        </p:txBody>
      </p:sp>
      <p:sp>
        <p:nvSpPr>
          <p:cNvPr id="8" name="Chip 3"/>
          <p:cNvSpPr/>
          <p:nvPr/>
        </p:nvSpPr>
        <p:spPr>
          <a:xfrm>
            <a:off x="548640" y="3621024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Payroll</a:t>
            </a:r>
            <a:endParaRPr lang="en-US"/>
          </a:p>
        </p:txBody>
      </p:sp>
      <p:sp>
        <p:nvSpPr>
          <p:cNvPr id="9" name="Chip 4"/>
          <p:cNvSpPr/>
          <p:nvPr/>
        </p:nvSpPr>
        <p:spPr>
          <a:xfrm>
            <a:off x="548640" y="4187952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Leave requests</a:t>
            </a:r>
            <a:endParaRPr lang="en-US"/>
          </a:p>
        </p:txBody>
      </p:sp>
      <p:sp>
        <p:nvSpPr>
          <p:cNvPr id="10" name="Chip 5"/>
          <p:cNvSpPr/>
          <p:nvPr/>
        </p:nvSpPr>
        <p:spPr>
          <a:xfrm>
            <a:off x="2331720" y="2487168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Training</a:t>
            </a:r>
            <a:endParaRPr lang="en-US"/>
          </a:p>
        </p:txBody>
      </p:sp>
      <p:sp>
        <p:nvSpPr>
          <p:cNvPr id="11" name="Chip 6"/>
          <p:cNvSpPr/>
          <p:nvPr/>
        </p:nvSpPr>
        <p:spPr>
          <a:xfrm>
            <a:off x="2331720" y="3054096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HR policies</a:t>
            </a:r>
            <a:endParaRPr lang="en-US"/>
          </a:p>
        </p:txBody>
      </p:sp>
      <p:sp>
        <p:nvSpPr>
          <p:cNvPr id="12" name="Chip 7"/>
          <p:cNvSpPr/>
          <p:nvPr/>
        </p:nvSpPr>
        <p:spPr>
          <a:xfrm>
            <a:off x="2331720" y="3621024"/>
            <a:ext cx="1691640" cy="475488"/>
          </a:xfrm>
          <a:prstGeom prst="roundRect">
            <a:avLst>
              <a:gd name="adj" fmla="val 18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340000" tIns="0" rIns="6000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Performance data</a:t>
            </a:r>
            <a:endParaRPr lang="en-US"/>
          </a:p>
        </p:txBody>
      </p:sp>
      <p:sp>
        <p:nvSpPr>
          <p:cNvPr id="13" name="d1"/>
          <p:cNvSpPr/>
          <p:nvPr/>
        </p:nvSpPr>
        <p:spPr>
          <a:xfrm>
            <a:off x="667512" y="2660904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d2"/>
          <p:cNvSpPr/>
          <p:nvPr/>
        </p:nvSpPr>
        <p:spPr>
          <a:xfrm>
            <a:off x="667512" y="3227832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d3"/>
          <p:cNvSpPr/>
          <p:nvPr/>
        </p:nvSpPr>
        <p:spPr>
          <a:xfrm>
            <a:off x="667512" y="3794760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d4"/>
          <p:cNvSpPr/>
          <p:nvPr/>
        </p:nvSpPr>
        <p:spPr>
          <a:xfrm>
            <a:off x="667512" y="4361688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d5"/>
          <p:cNvSpPr/>
          <p:nvPr/>
        </p:nvSpPr>
        <p:spPr>
          <a:xfrm>
            <a:off x="2450592" y="2660904"/>
            <a:ext cx="118872" cy="118872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d6"/>
          <p:cNvSpPr/>
          <p:nvPr/>
        </p:nvSpPr>
        <p:spPr>
          <a:xfrm>
            <a:off x="2450592" y="3227832"/>
            <a:ext cx="118872" cy="118872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d7"/>
          <p:cNvSpPr/>
          <p:nvPr/>
        </p:nvSpPr>
        <p:spPr>
          <a:xfrm>
            <a:off x="2450592" y="3794760"/>
            <a:ext cx="118872" cy="118872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Arrow"/>
          <p:cNvSpPr/>
          <p:nvPr/>
        </p:nvSpPr>
        <p:spPr>
          <a:xfrm>
            <a:off x="3931920" y="2551176"/>
            <a:ext cx="731520" cy="548640"/>
          </a:xfrm>
          <a:prstGeom prst="rightArrow">
            <a:avLst>
              <a:gd name="adj1" fmla="val 50000"/>
              <a:gd name="adj2" fmla="val 52000"/>
            </a:avLst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Right Header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50" b="1" spc="2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ONE INTELLIGENT SYSTEM</a:t>
            </a:r>
            <a:endParaRPr lang="en-US"/>
          </a:p>
        </p:txBody>
      </p:sp>
      <p:sp>
        <p:nvSpPr>
          <p:cNvPr id="23" name="Hub Card"/>
          <p:cNvSpPr/>
          <p:nvPr/>
        </p:nvSpPr>
        <p:spPr>
          <a:xfrm>
            <a:off x="4937760" y="2432304"/>
            <a:ext cx="3657600" cy="786384"/>
          </a:xfrm>
          <a:prstGeom prst="roundRect">
            <a:avLst>
              <a:gd name="adj" fmla="val 12000"/>
            </a:avLst>
          </a:prstGeom>
          <a:solidFill>
            <a:srgbClr val="0E1E3F"/>
          </a:solidFill>
          <a:ln w="1587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4" name="AI Hu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2578608"/>
            <a:ext cx="585216" cy="585216"/>
          </a:xfrm>
          <a:prstGeom prst="rect">
            <a:avLst/>
          </a:prstGeom>
        </p:spPr>
      </p:pic>
      <p:sp>
        <p:nvSpPr>
          <p:cNvPr id="25" name="Hub Title"/>
          <p:cNvSpPr/>
          <p:nvPr/>
        </p:nvSpPr>
        <p:spPr>
          <a:xfrm>
            <a:off x="5806440" y="2560320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AI HR Assistant</a:t>
            </a:r>
            <a:endParaRPr lang="en-US"/>
          </a:p>
        </p:txBody>
      </p:sp>
      <p:sp>
        <p:nvSpPr>
          <p:cNvPr id="26" name="Hub Sub"/>
          <p:cNvSpPr/>
          <p:nvPr/>
        </p:nvSpPr>
        <p:spPr>
          <a:xfrm>
            <a:off x="5806440" y="290779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5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One question, one trusted answer</a:t>
            </a:r>
            <a:endParaRPr lang="en-US"/>
          </a:p>
        </p:txBody>
      </p:sp>
      <p:sp>
        <p:nvSpPr>
          <p:cNvPr id="27" name="Q Header"/>
          <p:cNvSpPr/>
          <p:nvPr/>
        </p:nvSpPr>
        <p:spPr>
          <a:xfrm>
            <a:off x="4937760" y="3346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spc="20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EXAMPLE QUESTIONS</a:t>
            </a:r>
            <a:endParaRPr lang="en-US"/>
          </a:p>
        </p:txBody>
      </p:sp>
      <p:sp>
        <p:nvSpPr>
          <p:cNvPr id="28" name="Q1"/>
          <p:cNvSpPr/>
          <p:nvPr/>
        </p:nvSpPr>
        <p:spPr>
          <a:xfrm>
            <a:off x="4937760" y="3584448"/>
            <a:ext cx="3657600" cy="329184"/>
          </a:xfrm>
          <a:prstGeom prst="roundRect">
            <a:avLst>
              <a:gd name="adj" fmla="val 22000"/>
            </a:avLst>
          </a:prstGeom>
          <a:solidFill>
            <a:srgbClr val="0E1E3F"/>
          </a:solidFill>
          <a:ln w="9525">
            <a:solidFill>
              <a:srgbClr val="1E3A6B"/>
            </a:solidFill>
          </a:ln>
        </p:spPr>
        <p:txBody>
          <a:bodyPr wrap="square" lIns="384048" tIns="0" rIns="80000" bIns="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Show employee count by department</a:t>
            </a:r>
            <a:endParaRPr lang="en-US"/>
          </a:p>
        </p:txBody>
      </p:sp>
      <p:sp>
        <p:nvSpPr>
          <p:cNvPr id="29" name="Q2"/>
          <p:cNvSpPr/>
          <p:nvPr/>
        </p:nvSpPr>
        <p:spPr>
          <a:xfrm>
            <a:off x="4937760" y="3995928"/>
            <a:ext cx="3657600" cy="329184"/>
          </a:xfrm>
          <a:prstGeom prst="roundRect">
            <a:avLst>
              <a:gd name="adj" fmla="val 22000"/>
            </a:avLst>
          </a:prstGeom>
          <a:solidFill>
            <a:srgbClr val="0E1E3F"/>
          </a:solidFill>
          <a:ln w="9525">
            <a:solidFill>
              <a:srgbClr val="1E3A6B"/>
            </a:solidFill>
          </a:ln>
        </p:spPr>
        <p:txBody>
          <a:bodyPr wrap="square" lIns="384048" tIns="0" rIns="80000" bIns="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Who can access payroll information?</a:t>
            </a:r>
            <a:endParaRPr lang="en-US"/>
          </a:p>
        </p:txBody>
      </p:sp>
      <p:sp>
        <p:nvSpPr>
          <p:cNvPr id="30" name="Q3"/>
          <p:cNvSpPr/>
          <p:nvPr/>
        </p:nvSpPr>
        <p:spPr>
          <a:xfrm>
            <a:off x="4937760" y="4407408"/>
            <a:ext cx="3657600" cy="329184"/>
          </a:xfrm>
          <a:prstGeom prst="roundRect">
            <a:avLst>
              <a:gd name="adj" fmla="val 22000"/>
            </a:avLst>
          </a:prstGeom>
          <a:solidFill>
            <a:srgbClr val="0E1E3F"/>
          </a:solidFill>
          <a:ln w="9525">
            <a:solidFill>
              <a:srgbClr val="1E3A6B"/>
            </a:solidFill>
          </a:ln>
        </p:spPr>
        <p:txBody>
          <a:bodyPr wrap="square" lIns="384048" tIns="0" rIns="80000" bIns="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Which employees have attendance risk?</a:t>
            </a:r>
            <a:endParaRPr lang="en-US"/>
          </a:p>
        </p:txBody>
      </p:sp>
      <p:sp>
        <p:nvSpPr>
          <p:cNvPr id="31" name="qd1"/>
          <p:cNvSpPr/>
          <p:nvPr/>
        </p:nvSpPr>
        <p:spPr>
          <a:xfrm>
            <a:off x="5084064" y="3689604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qd2"/>
          <p:cNvSpPr/>
          <p:nvPr/>
        </p:nvSpPr>
        <p:spPr>
          <a:xfrm>
            <a:off x="5084064" y="4101084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qd3"/>
          <p:cNvSpPr/>
          <p:nvPr/>
        </p:nvSpPr>
        <p:spPr>
          <a:xfrm>
            <a:off x="5084064" y="4512564"/>
            <a:ext cx="118872" cy="118872"/>
          </a:xfrm>
          <a:prstGeom prst="ellipse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1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PROJECT • OBJECTIVE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Project Objective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44752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Goal — build an intelligent HR backend that can: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74520"/>
            <a:ext cx="2560320" cy="78638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Store HR data in MySQL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Relational storage</a:t>
            </a:r>
          </a:p>
        </p:txBody>
      </p:sp>
      <p:sp>
        <p:nvSpPr>
          <p:cNvPr id="12" name="Card"/>
          <p:cNvSpPr/>
          <p:nvPr/>
        </p:nvSpPr>
        <p:spPr>
          <a:xfrm>
            <a:off x="3291840" y="1874520"/>
            <a:ext cx="2560320" cy="78638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Provide APIs using FastAPI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REST endpoints</a:t>
            </a:r>
          </a:p>
        </p:txBody>
      </p:sp>
      <p:sp>
        <p:nvSpPr>
          <p:cNvPr id="13" name="Card"/>
          <p:cNvSpPr/>
          <p:nvPr/>
        </p:nvSpPr>
        <p:spPr>
          <a:xfrm>
            <a:off x="6035040" y="1874520"/>
            <a:ext cx="2560320" cy="78638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Answer database questions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SQL Agent</a:t>
            </a:r>
          </a:p>
        </p:txBody>
      </p:sp>
      <p:sp>
        <p:nvSpPr>
          <p:cNvPr id="14" name="Card"/>
          <p:cNvSpPr/>
          <p:nvPr/>
        </p:nvSpPr>
        <p:spPr>
          <a:xfrm>
            <a:off x="548640" y="2770632"/>
            <a:ext cx="2560320" cy="78638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Answer policy questions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RAG Agent</a:t>
            </a:r>
          </a:p>
        </p:txBody>
      </p:sp>
      <p:sp>
        <p:nvSpPr>
          <p:cNvPr id="15" name="Card"/>
          <p:cNvSpPr/>
          <p:nvPr/>
        </p:nvSpPr>
        <p:spPr>
          <a:xfrm>
            <a:off x="3291840" y="2770632"/>
            <a:ext cx="2560320" cy="78638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Detect HR risks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Analytics Agent</a:t>
            </a:r>
          </a:p>
        </p:txBody>
      </p:sp>
      <p:sp>
        <p:nvSpPr>
          <p:cNvPr id="16" name="Card"/>
          <p:cNvSpPr/>
          <p:nvPr/>
        </p:nvSpPr>
        <p:spPr>
          <a:xfrm>
            <a:off x="6035040" y="2770632"/>
            <a:ext cx="2560320" cy="78638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Route questions intelligently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1" spc="1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LangGraph</a:t>
            </a:r>
          </a:p>
        </p:txBody>
      </p:sp>
      <p:sp>
        <p:nvSpPr>
          <p:cNvPr id="17" name="FlowH"/>
          <p:cNvSpPr/>
          <p:nvPr/>
        </p:nvSpPr>
        <p:spPr>
          <a:xfrm>
            <a:off x="548640" y="38221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HOW A QUESTION FLOWS</a:t>
            </a:r>
          </a:p>
        </p:txBody>
      </p:sp>
      <p:sp>
        <p:nvSpPr>
          <p:cNvPr id="18" name="Card"/>
          <p:cNvSpPr/>
          <p:nvPr/>
        </p:nvSpPr>
        <p:spPr>
          <a:xfrm>
            <a:off x="548640" y="4160520"/>
            <a:ext cx="1783080" cy="5486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User Question</a:t>
            </a:r>
          </a:p>
        </p:txBody>
      </p:sp>
      <p:sp>
        <p:nvSpPr>
          <p:cNvPr id="19" name="Arrow"/>
          <p:cNvSpPr/>
          <p:nvPr/>
        </p:nvSpPr>
        <p:spPr>
          <a:xfrm>
            <a:off x="2377440" y="435711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0" name="Card"/>
          <p:cNvSpPr/>
          <p:nvPr/>
        </p:nvSpPr>
        <p:spPr>
          <a:xfrm>
            <a:off x="2624328" y="4160520"/>
            <a:ext cx="1783080" cy="5486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LangGraph</a:t>
            </a:r>
          </a:p>
        </p:txBody>
      </p:sp>
      <p:sp>
        <p:nvSpPr>
          <p:cNvPr id="21" name="Arrow"/>
          <p:cNvSpPr/>
          <p:nvPr/>
        </p:nvSpPr>
        <p:spPr>
          <a:xfrm>
            <a:off x="4453128" y="435711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2" name="Card"/>
          <p:cNvSpPr/>
          <p:nvPr/>
        </p:nvSpPr>
        <p:spPr>
          <a:xfrm>
            <a:off x="4700016" y="4160520"/>
            <a:ext cx="1783080" cy="5486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Correct Agent</a:t>
            </a:r>
          </a:p>
        </p:txBody>
      </p:sp>
      <p:sp>
        <p:nvSpPr>
          <p:cNvPr id="23" name="Arrow"/>
          <p:cNvSpPr/>
          <p:nvPr/>
        </p:nvSpPr>
        <p:spPr>
          <a:xfrm>
            <a:off x="6528816" y="435711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4" name="Card"/>
          <p:cNvSpPr/>
          <p:nvPr/>
        </p:nvSpPr>
        <p:spPr>
          <a:xfrm>
            <a:off x="6775704" y="4160520"/>
            <a:ext cx="1783080" cy="5486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Answer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PROJECT • TECH STACK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Technology Stack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548640" y="1481328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11" name="MySQ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572768"/>
            <a:ext cx="475488" cy="475488"/>
          </a:xfrm>
          <a:prstGeom prst="rect">
            <a:avLst/>
          </a:prstGeom>
        </p:spPr>
      </p:pic>
      <p:sp>
        <p:nvSpPr>
          <p:cNvPr id="12" name="Lbl"/>
          <p:cNvSpPr/>
          <p:nvPr/>
        </p:nvSpPr>
        <p:spPr>
          <a:xfrm>
            <a:off x="594360" y="2084832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MySQL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Store HR data</a:t>
            </a:r>
          </a:p>
        </p:txBody>
      </p:sp>
      <p:sp>
        <p:nvSpPr>
          <p:cNvPr id="13" name="Card"/>
          <p:cNvSpPr/>
          <p:nvPr/>
        </p:nvSpPr>
        <p:spPr>
          <a:xfrm>
            <a:off x="2596896" y="1481328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14" name="MySQL Workbe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572768"/>
            <a:ext cx="475488" cy="475488"/>
          </a:xfrm>
          <a:prstGeom prst="rect">
            <a:avLst/>
          </a:prstGeom>
        </p:spPr>
      </p:pic>
      <p:sp>
        <p:nvSpPr>
          <p:cNvPr id="15" name="Lbl"/>
          <p:cNvSpPr/>
          <p:nvPr/>
        </p:nvSpPr>
        <p:spPr>
          <a:xfrm>
            <a:off x="2642616" y="2084832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MySQL Workbench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Create &amp; validate DB</a:t>
            </a:r>
          </a:p>
        </p:txBody>
      </p:sp>
      <p:sp>
        <p:nvSpPr>
          <p:cNvPr id="16" name="Card"/>
          <p:cNvSpPr/>
          <p:nvPr/>
        </p:nvSpPr>
        <p:spPr>
          <a:xfrm>
            <a:off x="4645152" y="1481328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17" name="Pyth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1572768"/>
            <a:ext cx="475488" cy="475488"/>
          </a:xfrm>
          <a:prstGeom prst="rect">
            <a:avLst/>
          </a:prstGeom>
        </p:spPr>
      </p:pic>
      <p:sp>
        <p:nvSpPr>
          <p:cNvPr id="18" name="Lbl"/>
          <p:cNvSpPr/>
          <p:nvPr/>
        </p:nvSpPr>
        <p:spPr>
          <a:xfrm>
            <a:off x="4690872" y="2084832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Python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Backend logic</a:t>
            </a:r>
          </a:p>
        </p:txBody>
      </p:sp>
      <p:sp>
        <p:nvSpPr>
          <p:cNvPr id="19" name="Card"/>
          <p:cNvSpPr/>
          <p:nvPr/>
        </p:nvSpPr>
        <p:spPr>
          <a:xfrm>
            <a:off x="6693408" y="1481328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20" name="FastAP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572768"/>
            <a:ext cx="475488" cy="475488"/>
          </a:xfrm>
          <a:prstGeom prst="rect">
            <a:avLst/>
          </a:prstGeom>
        </p:spPr>
      </p:pic>
      <p:sp>
        <p:nvSpPr>
          <p:cNvPr id="21" name="Lbl"/>
          <p:cNvSpPr/>
          <p:nvPr/>
        </p:nvSpPr>
        <p:spPr>
          <a:xfrm>
            <a:off x="6739128" y="2084832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FastAPI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API creation</a:t>
            </a:r>
          </a:p>
        </p:txBody>
      </p:sp>
      <p:sp>
        <p:nvSpPr>
          <p:cNvPr id="22" name="Card"/>
          <p:cNvSpPr/>
          <p:nvPr/>
        </p:nvSpPr>
        <p:spPr>
          <a:xfrm>
            <a:off x="548640" y="2615184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23" name="Swagg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2706624"/>
            <a:ext cx="475488" cy="475488"/>
          </a:xfrm>
          <a:prstGeom prst="rect">
            <a:avLst/>
          </a:prstGeom>
        </p:spPr>
      </p:pic>
      <p:sp>
        <p:nvSpPr>
          <p:cNvPr id="24" name="Lbl"/>
          <p:cNvSpPr/>
          <p:nvPr/>
        </p:nvSpPr>
        <p:spPr>
          <a:xfrm>
            <a:off x="594360" y="3218688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Swagger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API testing</a:t>
            </a:r>
          </a:p>
        </p:txBody>
      </p:sp>
      <p:sp>
        <p:nvSpPr>
          <p:cNvPr id="25" name="Card"/>
          <p:cNvSpPr/>
          <p:nvPr/>
        </p:nvSpPr>
        <p:spPr>
          <a:xfrm>
            <a:off x="2596896" y="2615184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26" name="SQLAlchem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706624"/>
            <a:ext cx="475488" cy="475488"/>
          </a:xfrm>
          <a:prstGeom prst="rect">
            <a:avLst/>
          </a:prstGeom>
        </p:spPr>
      </p:pic>
      <p:sp>
        <p:nvSpPr>
          <p:cNvPr id="27" name="Lbl"/>
          <p:cNvSpPr/>
          <p:nvPr/>
        </p:nvSpPr>
        <p:spPr>
          <a:xfrm>
            <a:off x="2642616" y="3218688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SQLAlchemy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Python–MySQL link</a:t>
            </a:r>
          </a:p>
        </p:txBody>
      </p:sp>
      <p:sp>
        <p:nvSpPr>
          <p:cNvPr id="28" name="Card"/>
          <p:cNvSpPr/>
          <p:nvPr/>
        </p:nvSpPr>
        <p:spPr>
          <a:xfrm>
            <a:off x="4645152" y="2615184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29" name="panda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8384" y="2706624"/>
            <a:ext cx="475488" cy="475488"/>
          </a:xfrm>
          <a:prstGeom prst="rect">
            <a:avLst/>
          </a:prstGeom>
        </p:spPr>
      </p:pic>
      <p:sp>
        <p:nvSpPr>
          <p:cNvPr id="30" name="Lbl"/>
          <p:cNvSpPr/>
          <p:nvPr/>
        </p:nvSpPr>
        <p:spPr>
          <a:xfrm>
            <a:off x="4690872" y="3218688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pandas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Data analysis</a:t>
            </a:r>
          </a:p>
        </p:txBody>
      </p:sp>
      <p:sp>
        <p:nvSpPr>
          <p:cNvPr id="31" name="Card"/>
          <p:cNvSpPr/>
          <p:nvPr/>
        </p:nvSpPr>
        <p:spPr>
          <a:xfrm>
            <a:off x="6693408" y="2615184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32" name="scikit-lear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2706624"/>
            <a:ext cx="475488" cy="475488"/>
          </a:xfrm>
          <a:prstGeom prst="rect">
            <a:avLst/>
          </a:prstGeom>
        </p:spPr>
      </p:pic>
      <p:sp>
        <p:nvSpPr>
          <p:cNvPr id="33" name="Lbl"/>
          <p:cNvSpPr/>
          <p:nvPr/>
        </p:nvSpPr>
        <p:spPr>
          <a:xfrm>
            <a:off x="6739128" y="3218688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scikit-learn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Risk detection</a:t>
            </a:r>
          </a:p>
        </p:txBody>
      </p:sp>
      <p:sp>
        <p:nvSpPr>
          <p:cNvPr id="34" name="Card"/>
          <p:cNvSpPr/>
          <p:nvPr/>
        </p:nvSpPr>
        <p:spPr>
          <a:xfrm>
            <a:off x="548640" y="3749040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35" name="ChromaD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1872" y="3840480"/>
            <a:ext cx="475488" cy="475488"/>
          </a:xfrm>
          <a:prstGeom prst="rect">
            <a:avLst/>
          </a:prstGeom>
        </p:spPr>
      </p:pic>
      <p:sp>
        <p:nvSpPr>
          <p:cNvPr id="36" name="Lbl"/>
          <p:cNvSpPr/>
          <p:nvPr/>
        </p:nvSpPr>
        <p:spPr>
          <a:xfrm>
            <a:off x="594360" y="4352544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ChromaDB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Vector database</a:t>
            </a:r>
          </a:p>
        </p:txBody>
      </p:sp>
      <p:sp>
        <p:nvSpPr>
          <p:cNvPr id="37" name="Card"/>
          <p:cNvSpPr/>
          <p:nvPr/>
        </p:nvSpPr>
        <p:spPr>
          <a:xfrm>
            <a:off x="2596896" y="3749040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38" name="Unstructure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0128" y="3856474"/>
            <a:ext cx="475488" cy="443500"/>
          </a:xfrm>
          <a:prstGeom prst="rect">
            <a:avLst/>
          </a:prstGeom>
        </p:spPr>
      </p:pic>
      <p:sp>
        <p:nvSpPr>
          <p:cNvPr id="39" name="Lbl"/>
          <p:cNvSpPr/>
          <p:nvPr/>
        </p:nvSpPr>
        <p:spPr>
          <a:xfrm>
            <a:off x="2642616" y="4352544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Unstructured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Document chunking</a:t>
            </a:r>
          </a:p>
        </p:txBody>
      </p:sp>
      <p:sp>
        <p:nvSpPr>
          <p:cNvPr id="40" name="Card"/>
          <p:cNvSpPr/>
          <p:nvPr/>
        </p:nvSpPr>
        <p:spPr>
          <a:xfrm>
            <a:off x="4645152" y="3749040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41" name="Llama / Ollama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8384" y="3847038"/>
            <a:ext cx="475488" cy="462371"/>
          </a:xfrm>
          <a:prstGeom prst="rect">
            <a:avLst/>
          </a:prstGeom>
        </p:spPr>
      </p:pic>
      <p:sp>
        <p:nvSpPr>
          <p:cNvPr id="42" name="Lbl"/>
          <p:cNvSpPr/>
          <p:nvPr/>
        </p:nvSpPr>
        <p:spPr>
          <a:xfrm>
            <a:off x="4690872" y="4352544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Llama / Ollama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Local LLM</a:t>
            </a:r>
          </a:p>
        </p:txBody>
      </p:sp>
      <p:sp>
        <p:nvSpPr>
          <p:cNvPr id="43" name="Card"/>
          <p:cNvSpPr/>
          <p:nvPr/>
        </p:nvSpPr>
        <p:spPr>
          <a:xfrm>
            <a:off x="6693408" y="3749040"/>
            <a:ext cx="1901952" cy="102412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pic>
        <p:nvPicPr>
          <p:cNvPr id="44" name="LangGrap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6640" y="3840480"/>
            <a:ext cx="475488" cy="475488"/>
          </a:xfrm>
          <a:prstGeom prst="rect">
            <a:avLst/>
          </a:prstGeom>
        </p:spPr>
      </p:pic>
      <p:sp>
        <p:nvSpPr>
          <p:cNvPr id="45" name="Lbl"/>
          <p:cNvSpPr/>
          <p:nvPr/>
        </p:nvSpPr>
        <p:spPr>
          <a:xfrm>
            <a:off x="6739128" y="4352544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LangGraph</a:t>
            </a:r>
          </a:p>
          <a:p>
            <a:pPr algn="ctr">
              <a:lnSpc>
                <a:spcPct val="92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Agent routing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DATABASE • HRManagementDB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Database Design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cxnSp>
        <p:nvCxnSpPr>
          <p:cNvPr id="10" name="Conn"/>
          <p:cNvCxnSpPr/>
          <p:nvPr/>
        </p:nvCxnSpPr>
        <p:spPr>
          <a:xfrm flipV="1">
            <a:off x="4572000" y="1828800"/>
            <a:ext cx="0" cy="1325880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1" name="Conn"/>
          <p:cNvCxnSpPr/>
          <p:nvPr/>
        </p:nvCxnSpPr>
        <p:spPr>
          <a:xfrm flipV="1">
            <a:off x="4572000" y="2138996"/>
            <a:ext cx="1910236" cy="1015683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2" name="Conn"/>
          <p:cNvCxnSpPr/>
          <p:nvPr/>
        </p:nvCxnSpPr>
        <p:spPr>
          <a:xfrm flipV="1">
            <a:off x="4572000" y="2924443"/>
            <a:ext cx="2926651" cy="230236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3" name="Conn"/>
          <p:cNvCxnSpPr/>
          <p:nvPr/>
        </p:nvCxnSpPr>
        <p:spPr>
          <a:xfrm>
            <a:off x="4572000" y="3154680"/>
            <a:ext cx="2573654" cy="662940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4" name="Conn"/>
          <p:cNvCxnSpPr/>
          <p:nvPr/>
        </p:nvCxnSpPr>
        <p:spPr>
          <a:xfrm>
            <a:off x="4572000" y="3154680"/>
            <a:ext cx="1016415" cy="1245919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5" name="Conn"/>
          <p:cNvCxnSpPr/>
          <p:nvPr/>
        </p:nvCxnSpPr>
        <p:spPr>
          <a:xfrm flipH="1">
            <a:off x="3555584" y="3154680"/>
            <a:ext cx="1016415" cy="1245919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6" name="Conn"/>
          <p:cNvCxnSpPr/>
          <p:nvPr/>
        </p:nvCxnSpPr>
        <p:spPr>
          <a:xfrm flipH="1">
            <a:off x="1998345" y="3154680"/>
            <a:ext cx="2573654" cy="662940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7" name="Conn"/>
          <p:cNvCxnSpPr/>
          <p:nvPr/>
        </p:nvCxnSpPr>
        <p:spPr>
          <a:xfrm flipH="1" flipV="1">
            <a:off x="1645348" y="2924443"/>
            <a:ext cx="2926651" cy="230236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cxnSp>
        <p:nvCxnSpPr>
          <p:cNvPr id="18" name="Conn"/>
          <p:cNvCxnSpPr/>
          <p:nvPr/>
        </p:nvCxnSpPr>
        <p:spPr>
          <a:xfrm flipH="1" flipV="1">
            <a:off x="2661763" y="2138996"/>
            <a:ext cx="1910236" cy="1015683"/>
          </a:xfrm>
          <a:prstGeom prst="line">
            <a:avLst/>
          </a:prstGeom>
          <a:ln w="9525">
            <a:solidFill>
              <a:srgbClr val="2A4A82"/>
            </a:solidFill>
          </a:ln>
        </p:spPr>
      </p:cxnSp>
      <p:sp>
        <p:nvSpPr>
          <p:cNvPr id="19" name="Hub"/>
          <p:cNvSpPr/>
          <p:nvPr/>
        </p:nvSpPr>
        <p:spPr>
          <a:xfrm>
            <a:off x="3840480" y="2880360"/>
            <a:ext cx="1463040" cy="548640"/>
          </a:xfrm>
          <a:prstGeom prst="roundRect">
            <a:avLst>
              <a:gd name="adj" fmla="val 9000"/>
            </a:avLst>
          </a:prstGeom>
          <a:solidFill>
            <a:srgbClr val="22D3EE"/>
          </a:solidFill>
          <a:ln>
            <a:noFill/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Employee</a:t>
            </a:r>
          </a:p>
        </p:txBody>
      </p:sp>
      <p:sp>
        <p:nvSpPr>
          <p:cNvPr id="20" name="Card"/>
          <p:cNvSpPr/>
          <p:nvPr/>
        </p:nvSpPr>
        <p:spPr>
          <a:xfrm>
            <a:off x="3863340" y="1627632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Department</a:t>
            </a:r>
          </a:p>
        </p:txBody>
      </p:sp>
      <p:sp>
        <p:nvSpPr>
          <p:cNvPr id="21" name="Card"/>
          <p:cNvSpPr/>
          <p:nvPr/>
        </p:nvSpPr>
        <p:spPr>
          <a:xfrm>
            <a:off x="5773576" y="1937828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Attendance</a:t>
            </a:r>
          </a:p>
        </p:txBody>
      </p:sp>
      <p:sp>
        <p:nvSpPr>
          <p:cNvPr id="22" name="Card"/>
          <p:cNvSpPr/>
          <p:nvPr/>
        </p:nvSpPr>
        <p:spPr>
          <a:xfrm>
            <a:off x="6789991" y="2723275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LeaveRequest</a:t>
            </a:r>
          </a:p>
        </p:txBody>
      </p:sp>
      <p:sp>
        <p:nvSpPr>
          <p:cNvPr id="23" name="Card"/>
          <p:cNvSpPr/>
          <p:nvPr/>
        </p:nvSpPr>
        <p:spPr>
          <a:xfrm>
            <a:off x="6436994" y="3616452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Payroll</a:t>
            </a:r>
          </a:p>
        </p:txBody>
      </p:sp>
      <p:sp>
        <p:nvSpPr>
          <p:cNvPr id="24" name="Card"/>
          <p:cNvSpPr/>
          <p:nvPr/>
        </p:nvSpPr>
        <p:spPr>
          <a:xfrm>
            <a:off x="4879755" y="4199431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Training</a:t>
            </a:r>
          </a:p>
        </p:txBody>
      </p:sp>
      <p:sp>
        <p:nvSpPr>
          <p:cNvPr id="25" name="Card"/>
          <p:cNvSpPr/>
          <p:nvPr/>
        </p:nvSpPr>
        <p:spPr>
          <a:xfrm>
            <a:off x="2846924" y="4199431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PerformanceReview</a:t>
            </a:r>
          </a:p>
        </p:txBody>
      </p:sp>
      <p:sp>
        <p:nvSpPr>
          <p:cNvPr id="26" name="Card"/>
          <p:cNvSpPr/>
          <p:nvPr/>
        </p:nvSpPr>
        <p:spPr>
          <a:xfrm>
            <a:off x="1289685" y="3616452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JobHistory</a:t>
            </a:r>
          </a:p>
        </p:txBody>
      </p:sp>
      <p:sp>
        <p:nvSpPr>
          <p:cNvPr id="27" name="Card"/>
          <p:cNvSpPr/>
          <p:nvPr/>
        </p:nvSpPr>
        <p:spPr>
          <a:xfrm>
            <a:off x="936688" y="2723275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Skills</a:t>
            </a:r>
          </a:p>
        </p:txBody>
      </p:sp>
      <p:sp>
        <p:nvSpPr>
          <p:cNvPr id="28" name="Card"/>
          <p:cNvSpPr/>
          <p:nvPr/>
        </p:nvSpPr>
        <p:spPr>
          <a:xfrm>
            <a:off x="1953103" y="1937828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Certifications</a:t>
            </a:r>
          </a:p>
        </p:txBody>
      </p:sp>
      <p:sp>
        <p:nvSpPr>
          <p:cNvPr id="29" name="Why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Separate tables avoid duplication and make querying far easier.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DESIGN • RATIONALE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Why Not One CSV?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26464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One employee has many attendance &amp; payroll records, plus multiple skills, certifications and training entries.</a:t>
            </a:r>
          </a:p>
        </p:txBody>
      </p:sp>
      <p:sp>
        <p:nvSpPr>
          <p:cNvPr id="11" name="LeftCard"/>
          <p:cNvSpPr/>
          <p:nvPr/>
        </p:nvSpPr>
        <p:spPr>
          <a:xfrm>
            <a:off x="548640" y="2148840"/>
            <a:ext cx="3886200" cy="2331720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12700">
            <a:solidFill>
              <a:srgbClr val="F87171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2" name="LeftT"/>
          <p:cNvSpPr/>
          <p:nvPr/>
        </p:nvSpPr>
        <p:spPr>
          <a:xfrm>
            <a:off x="777240" y="2350008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F87171"/>
                </a:solidFill>
                <a:latin typeface="Trebuchet MS" pitchFamily="34" charset="0"/>
                <a:cs typeface="Trebuchet MS"/>
              </a:rPr>
              <a:t>One giant messy CSV</a:t>
            </a:r>
          </a:p>
        </p:txBody>
      </p:sp>
      <p:cxnSp>
        <p:nvCxnSpPr>
          <p:cNvPr id="13" name="Conn"/>
          <p:cNvCxnSpPr>
            <a:cxnSpLocks/>
          </p:cNvCxnSpPr>
          <p:nvPr/>
        </p:nvCxnSpPr>
        <p:spPr>
          <a:xfrm>
            <a:off x="777240" y="2715768"/>
            <a:ext cx="2240280" cy="0"/>
          </a:xfrm>
          <a:prstGeom prst="line">
            <a:avLst/>
          </a:prstGeom>
          <a:ln w="28575">
            <a:solidFill>
              <a:srgbClr val="F87171"/>
            </a:solidFill>
          </a:ln>
        </p:spPr>
      </p:cxnSp>
      <p:sp>
        <p:nvSpPr>
          <p:cNvPr id="14" name="lp"/>
          <p:cNvSpPr/>
          <p:nvPr/>
        </p:nvSpPr>
        <p:spPr>
          <a:xfrm>
            <a:off x="804672" y="29260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F87171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Repeats employee info on every row</a:t>
            </a:r>
          </a:p>
        </p:txBody>
      </p:sp>
      <p:sp>
        <p:nvSpPr>
          <p:cNvPr id="15" name="lp"/>
          <p:cNvSpPr/>
          <p:nvPr/>
        </p:nvSpPr>
        <p:spPr>
          <a:xfrm>
            <a:off x="804672" y="329184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F87171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Hard to query relationships</a:t>
            </a:r>
          </a:p>
        </p:txBody>
      </p:sp>
      <p:sp>
        <p:nvSpPr>
          <p:cNvPr id="16" name="lp"/>
          <p:cNvSpPr/>
          <p:nvPr/>
        </p:nvSpPr>
        <p:spPr>
          <a:xfrm>
            <a:off x="804672" y="36576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F87171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Heavy duplication of data</a:t>
            </a:r>
          </a:p>
        </p:txBody>
      </p:sp>
      <p:sp>
        <p:nvSpPr>
          <p:cNvPr id="17" name="lp"/>
          <p:cNvSpPr/>
          <p:nvPr/>
        </p:nvSpPr>
        <p:spPr>
          <a:xfrm>
            <a:off x="804672" y="40233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F87171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Does not scale as data grows</a:t>
            </a:r>
          </a:p>
        </p:txBody>
      </p:sp>
      <p:sp>
        <p:nvSpPr>
          <p:cNvPr id="18" name="RightCard"/>
          <p:cNvSpPr/>
          <p:nvPr/>
        </p:nvSpPr>
        <p:spPr>
          <a:xfrm>
            <a:off x="4709160" y="2148840"/>
            <a:ext cx="3886200" cy="2331720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12700">
            <a:solidFill>
              <a:srgbClr val="34D399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9" name="RightT"/>
          <p:cNvSpPr/>
          <p:nvPr/>
        </p:nvSpPr>
        <p:spPr>
          <a:xfrm>
            <a:off x="4937760" y="2350008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34D399"/>
                </a:solidFill>
                <a:latin typeface="Trebuchet MS" pitchFamily="34" charset="0"/>
                <a:cs typeface="Trebuchet MS"/>
              </a:rPr>
              <a:t>10 connected tables</a:t>
            </a:r>
          </a:p>
        </p:txBody>
      </p:sp>
      <p:sp>
        <p:nvSpPr>
          <p:cNvPr id="20" name="rp"/>
          <p:cNvSpPr/>
          <p:nvPr/>
        </p:nvSpPr>
        <p:spPr>
          <a:xfrm>
            <a:off x="4965192" y="286207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Cleaner, normalized structure</a:t>
            </a:r>
          </a:p>
        </p:txBody>
      </p:sp>
      <p:sp>
        <p:nvSpPr>
          <p:cNvPr id="21" name="rp"/>
          <p:cNvSpPr/>
          <p:nvPr/>
        </p:nvSpPr>
        <p:spPr>
          <a:xfrm>
            <a:off x="4965192" y="322783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Scales smoothly with growth</a:t>
            </a:r>
          </a:p>
        </p:txBody>
      </p:sp>
      <p:sp>
        <p:nvSpPr>
          <p:cNvPr id="22" name="rp"/>
          <p:cNvSpPr/>
          <p:nvPr/>
        </p:nvSpPr>
        <p:spPr>
          <a:xfrm>
            <a:off x="4965192" y="359359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Supports joins across tables</a:t>
            </a:r>
          </a:p>
        </p:txBody>
      </p:sp>
      <p:sp>
        <p:nvSpPr>
          <p:cNvPr id="23" name="rp"/>
          <p:cNvSpPr/>
          <p:nvPr/>
        </p:nvSpPr>
        <p:spPr>
          <a:xfrm>
            <a:off x="4965192" y="395935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Reduces duplicate data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DATA • VALIDATION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Data Loading and Validation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Badge"/>
          <p:cNvSpPr/>
          <p:nvPr/>
        </p:nvSpPr>
        <p:spPr>
          <a:xfrm>
            <a:off x="548640" y="1426464"/>
            <a:ext cx="3657600" cy="384048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34D399"/>
                </a:solidFill>
                <a:latin typeface="Trebuchet MS" pitchFamily="34" charset="0"/>
                <a:cs typeface="Trebuchet MS"/>
              </a:rPr>
              <a:t>Synthetic data loaded &amp; validated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201168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2" name="ck"/>
          <p:cNvSpPr/>
          <p:nvPr/>
        </p:nvSpPr>
        <p:spPr>
          <a:xfrm>
            <a:off x="676656" y="212140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13" name="tn"/>
          <p:cNvSpPr/>
          <p:nvPr/>
        </p:nvSpPr>
        <p:spPr>
          <a:xfrm>
            <a:off x="1005840" y="20116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Department</a:t>
            </a:r>
          </a:p>
        </p:txBody>
      </p:sp>
      <p:sp>
        <p:nvSpPr>
          <p:cNvPr id="14" name="cnt"/>
          <p:cNvSpPr/>
          <p:nvPr/>
        </p:nvSpPr>
        <p:spPr>
          <a:xfrm>
            <a:off x="3383280" y="2011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8</a:t>
            </a:r>
          </a:p>
        </p:txBody>
      </p:sp>
      <p:sp>
        <p:nvSpPr>
          <p:cNvPr id="15" name="Card"/>
          <p:cNvSpPr/>
          <p:nvPr/>
        </p:nvSpPr>
        <p:spPr>
          <a:xfrm>
            <a:off x="548640" y="256032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6" name="ck"/>
          <p:cNvSpPr/>
          <p:nvPr/>
        </p:nvSpPr>
        <p:spPr>
          <a:xfrm>
            <a:off x="676656" y="267004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17" name="tn"/>
          <p:cNvSpPr/>
          <p:nvPr/>
        </p:nvSpPr>
        <p:spPr>
          <a:xfrm>
            <a:off x="1005840" y="25603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Employee</a:t>
            </a:r>
          </a:p>
        </p:txBody>
      </p:sp>
      <p:sp>
        <p:nvSpPr>
          <p:cNvPr id="18" name="cnt"/>
          <p:cNvSpPr/>
          <p:nvPr/>
        </p:nvSpPr>
        <p:spPr>
          <a:xfrm>
            <a:off x="3383280" y="2560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60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310896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0" name="ck"/>
          <p:cNvSpPr/>
          <p:nvPr/>
        </p:nvSpPr>
        <p:spPr>
          <a:xfrm>
            <a:off x="676656" y="321868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21" name="tn"/>
          <p:cNvSpPr/>
          <p:nvPr/>
        </p:nvSpPr>
        <p:spPr>
          <a:xfrm>
            <a:off x="1005840" y="31089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Attendance</a:t>
            </a:r>
          </a:p>
        </p:txBody>
      </p:sp>
      <p:sp>
        <p:nvSpPr>
          <p:cNvPr id="22" name="cnt"/>
          <p:cNvSpPr/>
          <p:nvPr/>
        </p:nvSpPr>
        <p:spPr>
          <a:xfrm>
            <a:off x="3383280" y="3108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3,840</a:t>
            </a:r>
          </a:p>
        </p:txBody>
      </p:sp>
      <p:sp>
        <p:nvSpPr>
          <p:cNvPr id="23" name="Card"/>
          <p:cNvSpPr/>
          <p:nvPr/>
        </p:nvSpPr>
        <p:spPr>
          <a:xfrm>
            <a:off x="548640" y="365760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4" name="ck"/>
          <p:cNvSpPr/>
          <p:nvPr/>
        </p:nvSpPr>
        <p:spPr>
          <a:xfrm>
            <a:off x="676656" y="376732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25" name="tn"/>
          <p:cNvSpPr/>
          <p:nvPr/>
        </p:nvSpPr>
        <p:spPr>
          <a:xfrm>
            <a:off x="1005840" y="36576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LeaveRequest</a:t>
            </a:r>
          </a:p>
        </p:txBody>
      </p:sp>
      <p:sp>
        <p:nvSpPr>
          <p:cNvPr id="26" name="cnt"/>
          <p:cNvSpPr/>
          <p:nvPr/>
        </p:nvSpPr>
        <p:spPr>
          <a:xfrm>
            <a:off x="3383280" y="3657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90</a:t>
            </a:r>
          </a:p>
        </p:txBody>
      </p:sp>
      <p:sp>
        <p:nvSpPr>
          <p:cNvPr id="27" name="Card"/>
          <p:cNvSpPr/>
          <p:nvPr/>
        </p:nvSpPr>
        <p:spPr>
          <a:xfrm>
            <a:off x="548640" y="420624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8" name="ck"/>
          <p:cNvSpPr/>
          <p:nvPr/>
        </p:nvSpPr>
        <p:spPr>
          <a:xfrm>
            <a:off x="676656" y="431596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29" name="tn"/>
          <p:cNvSpPr/>
          <p:nvPr/>
        </p:nvSpPr>
        <p:spPr>
          <a:xfrm>
            <a:off x="1005840" y="42062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Payroll</a:t>
            </a:r>
          </a:p>
        </p:txBody>
      </p:sp>
      <p:sp>
        <p:nvSpPr>
          <p:cNvPr id="30" name="cnt"/>
          <p:cNvSpPr/>
          <p:nvPr/>
        </p:nvSpPr>
        <p:spPr>
          <a:xfrm>
            <a:off x="3383280" y="4206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360</a:t>
            </a:r>
          </a:p>
        </p:txBody>
      </p:sp>
      <p:sp>
        <p:nvSpPr>
          <p:cNvPr id="31" name="Card"/>
          <p:cNvSpPr/>
          <p:nvPr/>
        </p:nvSpPr>
        <p:spPr>
          <a:xfrm>
            <a:off x="4709160" y="201168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2" name="ck"/>
          <p:cNvSpPr/>
          <p:nvPr/>
        </p:nvSpPr>
        <p:spPr>
          <a:xfrm>
            <a:off x="4837176" y="212140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33" name="tn"/>
          <p:cNvSpPr/>
          <p:nvPr/>
        </p:nvSpPr>
        <p:spPr>
          <a:xfrm>
            <a:off x="5166360" y="20116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Training</a:t>
            </a:r>
          </a:p>
        </p:txBody>
      </p:sp>
      <p:sp>
        <p:nvSpPr>
          <p:cNvPr id="34" name="cnt"/>
          <p:cNvSpPr/>
          <p:nvPr/>
        </p:nvSpPr>
        <p:spPr>
          <a:xfrm>
            <a:off x="7543800" y="2011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140</a:t>
            </a:r>
          </a:p>
        </p:txBody>
      </p:sp>
      <p:sp>
        <p:nvSpPr>
          <p:cNvPr id="35" name="Card"/>
          <p:cNvSpPr/>
          <p:nvPr/>
        </p:nvSpPr>
        <p:spPr>
          <a:xfrm>
            <a:off x="4709160" y="256032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6" name="ck"/>
          <p:cNvSpPr/>
          <p:nvPr/>
        </p:nvSpPr>
        <p:spPr>
          <a:xfrm>
            <a:off x="4837176" y="267004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37" name="tn"/>
          <p:cNvSpPr/>
          <p:nvPr/>
        </p:nvSpPr>
        <p:spPr>
          <a:xfrm>
            <a:off x="5166360" y="25603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PerformanceReview</a:t>
            </a:r>
          </a:p>
        </p:txBody>
      </p:sp>
      <p:sp>
        <p:nvSpPr>
          <p:cNvPr id="38" name="cnt"/>
          <p:cNvSpPr/>
          <p:nvPr/>
        </p:nvSpPr>
        <p:spPr>
          <a:xfrm>
            <a:off x="7543800" y="2560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60</a:t>
            </a:r>
          </a:p>
        </p:txBody>
      </p:sp>
      <p:sp>
        <p:nvSpPr>
          <p:cNvPr id="39" name="Card"/>
          <p:cNvSpPr/>
          <p:nvPr/>
        </p:nvSpPr>
        <p:spPr>
          <a:xfrm>
            <a:off x="4709160" y="310896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0" name="ck"/>
          <p:cNvSpPr/>
          <p:nvPr/>
        </p:nvSpPr>
        <p:spPr>
          <a:xfrm>
            <a:off x="4837176" y="321868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41" name="tn"/>
          <p:cNvSpPr/>
          <p:nvPr/>
        </p:nvSpPr>
        <p:spPr>
          <a:xfrm>
            <a:off x="5166360" y="31089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JobHistory</a:t>
            </a:r>
          </a:p>
        </p:txBody>
      </p:sp>
      <p:sp>
        <p:nvSpPr>
          <p:cNvPr id="42" name="cnt"/>
          <p:cNvSpPr/>
          <p:nvPr/>
        </p:nvSpPr>
        <p:spPr>
          <a:xfrm>
            <a:off x="7543800" y="3108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97</a:t>
            </a:r>
          </a:p>
        </p:txBody>
      </p:sp>
      <p:sp>
        <p:nvSpPr>
          <p:cNvPr id="43" name="Card"/>
          <p:cNvSpPr/>
          <p:nvPr/>
        </p:nvSpPr>
        <p:spPr>
          <a:xfrm>
            <a:off x="4709160" y="365760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4" name="ck"/>
          <p:cNvSpPr/>
          <p:nvPr/>
        </p:nvSpPr>
        <p:spPr>
          <a:xfrm>
            <a:off x="4837176" y="376732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45" name="tn"/>
          <p:cNvSpPr/>
          <p:nvPr/>
        </p:nvSpPr>
        <p:spPr>
          <a:xfrm>
            <a:off x="5166360" y="36576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Skills</a:t>
            </a:r>
          </a:p>
        </p:txBody>
      </p:sp>
      <p:sp>
        <p:nvSpPr>
          <p:cNvPr id="46" name="cnt"/>
          <p:cNvSpPr/>
          <p:nvPr/>
        </p:nvSpPr>
        <p:spPr>
          <a:xfrm>
            <a:off x="7543800" y="3657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220</a:t>
            </a:r>
          </a:p>
        </p:txBody>
      </p:sp>
      <p:sp>
        <p:nvSpPr>
          <p:cNvPr id="47" name="Card"/>
          <p:cNvSpPr/>
          <p:nvPr/>
        </p:nvSpPr>
        <p:spPr>
          <a:xfrm>
            <a:off x="4709160" y="4206240"/>
            <a:ext cx="388620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8" name="ck"/>
          <p:cNvSpPr/>
          <p:nvPr/>
        </p:nvSpPr>
        <p:spPr>
          <a:xfrm>
            <a:off x="4837176" y="4315968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49" name="tn"/>
          <p:cNvSpPr/>
          <p:nvPr/>
        </p:nvSpPr>
        <p:spPr>
          <a:xfrm>
            <a:off x="5166360" y="42062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Certifications</a:t>
            </a:r>
          </a:p>
        </p:txBody>
      </p:sp>
      <p:sp>
        <p:nvSpPr>
          <p:cNvPr id="50" name="cnt"/>
          <p:cNvSpPr/>
          <p:nvPr/>
        </p:nvSpPr>
        <p:spPr>
          <a:xfrm>
            <a:off x="7543800" y="4206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48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BACKEND • FastAPI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FastAPI Backend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FastAPI exposes the backend through clean REST endpoints.</a:t>
            </a:r>
          </a:p>
        </p:txBody>
      </p:sp>
      <p:sp>
        <p:nvSpPr>
          <p:cNvPr id="11" name="Card"/>
          <p:cNvSpPr/>
          <p:nvPr/>
        </p:nvSpPr>
        <p:spPr>
          <a:xfrm>
            <a:off x="914400" y="1874520"/>
            <a:ext cx="2286000" cy="713232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Browser / Swagger</a:t>
            </a:r>
          </a:p>
        </p:txBody>
      </p:sp>
      <p:sp>
        <p:nvSpPr>
          <p:cNvPr id="12" name="Arrow"/>
          <p:cNvSpPr/>
          <p:nvPr/>
        </p:nvSpPr>
        <p:spPr>
          <a:xfrm>
            <a:off x="3351276" y="2153412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3" name="Card"/>
          <p:cNvSpPr/>
          <p:nvPr/>
        </p:nvSpPr>
        <p:spPr>
          <a:xfrm>
            <a:off x="3703320" y="1874520"/>
            <a:ext cx="2286000" cy="713232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FastAPI</a:t>
            </a:r>
          </a:p>
        </p:txBody>
      </p:sp>
      <p:sp>
        <p:nvSpPr>
          <p:cNvPr id="14" name="Arrow"/>
          <p:cNvSpPr/>
          <p:nvPr/>
        </p:nvSpPr>
        <p:spPr>
          <a:xfrm>
            <a:off x="6140196" y="2153412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6492240" y="1874520"/>
            <a:ext cx="2286000" cy="713232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MySQL</a:t>
            </a:r>
          </a:p>
        </p:txBody>
      </p:sp>
      <p:sp>
        <p:nvSpPr>
          <p:cNvPr id="16" name="grpH"/>
          <p:cNvSpPr/>
          <p:nvPr/>
        </p:nvSpPr>
        <p:spPr>
          <a:xfrm>
            <a:off x="548640" y="29077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API RESOURCE GROUPS</a:t>
            </a:r>
          </a:p>
        </p:txBody>
      </p:sp>
      <p:sp>
        <p:nvSpPr>
          <p:cNvPr id="17" name="Card"/>
          <p:cNvSpPr/>
          <p:nvPr/>
        </p:nvSpPr>
        <p:spPr>
          <a:xfrm>
            <a:off x="548640" y="3246120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Employees</a:t>
            </a:r>
          </a:p>
        </p:txBody>
      </p:sp>
      <p:sp>
        <p:nvSpPr>
          <p:cNvPr id="18" name="Card"/>
          <p:cNvSpPr/>
          <p:nvPr/>
        </p:nvSpPr>
        <p:spPr>
          <a:xfrm>
            <a:off x="2596896" y="3246120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Departments</a:t>
            </a:r>
          </a:p>
        </p:txBody>
      </p:sp>
      <p:sp>
        <p:nvSpPr>
          <p:cNvPr id="19" name="Card"/>
          <p:cNvSpPr/>
          <p:nvPr/>
        </p:nvSpPr>
        <p:spPr>
          <a:xfrm>
            <a:off x="4645152" y="3246120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Attendance</a:t>
            </a:r>
          </a:p>
        </p:txBody>
      </p:sp>
      <p:sp>
        <p:nvSpPr>
          <p:cNvPr id="20" name="Card"/>
          <p:cNvSpPr/>
          <p:nvPr/>
        </p:nvSpPr>
        <p:spPr>
          <a:xfrm>
            <a:off x="6693408" y="3246120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Payroll</a:t>
            </a:r>
          </a:p>
        </p:txBody>
      </p:sp>
      <p:sp>
        <p:nvSpPr>
          <p:cNvPr id="21" name="Card"/>
          <p:cNvSpPr/>
          <p:nvPr/>
        </p:nvSpPr>
        <p:spPr>
          <a:xfrm>
            <a:off x="548640" y="3858768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Leave Requests</a:t>
            </a:r>
          </a:p>
        </p:txBody>
      </p:sp>
      <p:sp>
        <p:nvSpPr>
          <p:cNvPr id="22" name="Card"/>
          <p:cNvSpPr/>
          <p:nvPr/>
        </p:nvSpPr>
        <p:spPr>
          <a:xfrm>
            <a:off x="2596896" y="3858768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Training</a:t>
            </a:r>
          </a:p>
        </p:txBody>
      </p:sp>
      <p:sp>
        <p:nvSpPr>
          <p:cNvPr id="23" name="Card"/>
          <p:cNvSpPr/>
          <p:nvPr/>
        </p:nvSpPr>
        <p:spPr>
          <a:xfrm>
            <a:off x="4645152" y="3858768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Skills</a:t>
            </a:r>
          </a:p>
        </p:txBody>
      </p:sp>
      <p:sp>
        <p:nvSpPr>
          <p:cNvPr id="24" name="Card"/>
          <p:cNvSpPr/>
          <p:nvPr/>
        </p:nvSpPr>
        <p:spPr>
          <a:xfrm>
            <a:off x="6693408" y="3858768"/>
            <a:ext cx="1901952" cy="5029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Certifications</a:t>
            </a:r>
          </a:p>
        </p:txBody>
      </p:sp>
      <p:sp>
        <p:nvSpPr>
          <p:cNvPr id="25" name="why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34D399"/>
                </a:solidFill>
                <a:latin typeface="Trebuchet MS" pitchFamily="34" charset="0"/>
                <a:cs typeface="Trebuchet MS"/>
              </a:rPr>
              <a:t>The API is the bridge between the user and the backend database.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BACKEND • SWAGGER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Swagger Documentation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h"/>
          <p:cNvSpPr/>
          <p:nvPr/>
        </p:nvSpPr>
        <p:spPr>
          <a:xfrm>
            <a:off x="548640" y="14813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WHY IT'S USEFUL</a:t>
            </a:r>
          </a:p>
        </p:txBody>
      </p:sp>
      <p:sp>
        <p:nvSpPr>
          <p:cNvPr id="11" name="p"/>
          <p:cNvSpPr/>
          <p:nvPr/>
        </p:nvSpPr>
        <p:spPr>
          <a:xfrm>
            <a:off x="548640" y="18745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8000"/>
              </a:lnSpc>
              <a:buClr>
                <a:srgbClr val="22D3EE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Lists every available endpoint</a:t>
            </a:r>
          </a:p>
        </p:txBody>
      </p:sp>
      <p:sp>
        <p:nvSpPr>
          <p:cNvPr id="12" name="p"/>
          <p:cNvSpPr/>
          <p:nvPr/>
        </p:nvSpPr>
        <p:spPr>
          <a:xfrm>
            <a:off x="548640" y="2441448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8000"/>
              </a:lnSpc>
              <a:buClr>
                <a:srgbClr val="22D3EE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Test APIs right from the browser</a:t>
            </a:r>
          </a:p>
        </p:txBody>
      </p:sp>
      <p:sp>
        <p:nvSpPr>
          <p:cNvPr id="13" name="p"/>
          <p:cNvSpPr/>
          <p:nvPr/>
        </p:nvSpPr>
        <p:spPr>
          <a:xfrm>
            <a:off x="548640" y="3008376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8000"/>
              </a:lnSpc>
              <a:buClr>
                <a:srgbClr val="22D3EE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See request &amp; response JSON</a:t>
            </a:r>
          </a:p>
        </p:txBody>
      </p:sp>
      <p:sp>
        <p:nvSpPr>
          <p:cNvPr id="14" name="p"/>
          <p:cNvSpPr/>
          <p:nvPr/>
        </p:nvSpPr>
        <p:spPr>
          <a:xfrm>
            <a:off x="548640" y="3575304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8000"/>
              </a:lnSpc>
              <a:buClr>
                <a:srgbClr val="22D3EE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Perfect for live demo screenshots</a:t>
            </a:r>
          </a:p>
        </p:txBody>
      </p:sp>
      <p:sp>
        <p:nvSpPr>
          <p:cNvPr id="15" name="url"/>
          <p:cNvSpPr/>
          <p:nvPr/>
        </p:nvSpPr>
        <p:spPr>
          <a:xfrm>
            <a:off x="548640" y="4224528"/>
            <a:ext cx="269748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127.0.0.1:8000/docs</a:t>
            </a:r>
          </a:p>
        </p:txBody>
      </p:sp>
      <p:sp>
        <p:nvSpPr>
          <p:cNvPr id="16" name="win"/>
          <p:cNvSpPr/>
          <p:nvPr/>
        </p:nvSpPr>
        <p:spPr>
          <a:xfrm>
            <a:off x="3429000" y="1463040"/>
            <a:ext cx="5166360" cy="3200400"/>
          </a:xfrm>
          <a:prstGeom prst="roundRect">
            <a:avLst>
              <a:gd name="adj" fmla="val 4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7" name="chrome"/>
          <p:cNvSpPr/>
          <p:nvPr/>
        </p:nvSpPr>
        <p:spPr>
          <a:xfrm>
            <a:off x="3429000" y="1463040"/>
            <a:ext cx="5166360" cy="384048"/>
          </a:xfrm>
          <a:prstGeom prst="roundRect">
            <a:avLst>
              <a:gd name="adj" fmla="val 4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8" name="dot"/>
          <p:cNvSpPr/>
          <p:nvPr/>
        </p:nvSpPr>
        <p:spPr>
          <a:xfrm>
            <a:off x="3593592" y="1591056"/>
            <a:ext cx="118872" cy="11887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9" name="dot"/>
          <p:cNvSpPr/>
          <p:nvPr/>
        </p:nvSpPr>
        <p:spPr>
          <a:xfrm>
            <a:off x="3794760" y="1591056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0" name="dot"/>
          <p:cNvSpPr/>
          <p:nvPr/>
        </p:nvSpPr>
        <p:spPr>
          <a:xfrm>
            <a:off x="3995928" y="159105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1" name="addr"/>
          <p:cNvSpPr/>
          <p:nvPr/>
        </p:nvSpPr>
        <p:spPr>
          <a:xfrm>
            <a:off x="4343400" y="146304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http://127.0.0.1:8000/docs</a:t>
            </a:r>
          </a:p>
        </p:txBody>
      </p:sp>
      <p:pic>
        <p:nvPicPr>
          <p:cNvPr id="22" name="Swagger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03120"/>
            <a:ext cx="4069080" cy="2286000"/>
          </a:xfrm>
          <a:prstGeom prst="roundRect">
            <a:avLst>
              <a:gd name="adj" fmla="val 3000"/>
            </a:avLst>
          </a:prstGeom>
          <a:ln w="9525">
            <a:solidFill>
              <a:srgbClr val="2A4A82"/>
            </a:solidFill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AGENTS • SQL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SQL Agent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The SQL Agent answers structured database questions.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User question</a:t>
            </a:r>
          </a:p>
        </p:txBody>
      </p:sp>
      <p:sp>
        <p:nvSpPr>
          <p:cNvPr id="12" name="Arrow"/>
          <p:cNvSpPr/>
          <p:nvPr/>
        </p:nvSpPr>
        <p:spPr>
          <a:xfrm>
            <a:off x="1984248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3" name="Card"/>
          <p:cNvSpPr/>
          <p:nvPr/>
        </p:nvSpPr>
        <p:spPr>
          <a:xfrm>
            <a:off x="2203704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Detect intent</a:t>
            </a:r>
          </a:p>
        </p:txBody>
      </p:sp>
      <p:sp>
        <p:nvSpPr>
          <p:cNvPr id="14" name="Arrow"/>
          <p:cNvSpPr/>
          <p:nvPr/>
        </p:nvSpPr>
        <p:spPr>
          <a:xfrm>
            <a:off x="3639312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3858768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Select safe SQL</a:t>
            </a:r>
          </a:p>
        </p:txBody>
      </p:sp>
      <p:sp>
        <p:nvSpPr>
          <p:cNvPr id="16" name="Arrow"/>
          <p:cNvSpPr/>
          <p:nvPr/>
        </p:nvSpPr>
        <p:spPr>
          <a:xfrm>
            <a:off x="5294376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7" name="Card"/>
          <p:cNvSpPr/>
          <p:nvPr/>
        </p:nvSpPr>
        <p:spPr>
          <a:xfrm>
            <a:off x="5513832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Run on MySQL</a:t>
            </a:r>
          </a:p>
        </p:txBody>
      </p:sp>
      <p:sp>
        <p:nvSpPr>
          <p:cNvPr id="18" name="Arrow"/>
          <p:cNvSpPr/>
          <p:nvPr/>
        </p:nvSpPr>
        <p:spPr>
          <a:xfrm>
            <a:off x="6949440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9" name="Card"/>
          <p:cNvSpPr/>
          <p:nvPr/>
        </p:nvSpPr>
        <p:spPr>
          <a:xfrm>
            <a:off x="7168896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Return result</a:t>
            </a:r>
          </a:p>
        </p:txBody>
      </p:sp>
      <p:sp>
        <p:nvSpPr>
          <p:cNvPr id="20" name="exH"/>
          <p:cNvSpPr/>
          <p:nvPr/>
        </p:nvSpPr>
        <p:spPr>
          <a:xfrm>
            <a:off x="548640" y="306324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EXAMPLE QUESTIONS</a:t>
            </a:r>
          </a:p>
        </p:txBody>
      </p:sp>
      <p:sp>
        <p:nvSpPr>
          <p:cNvPr id="21" name="Card"/>
          <p:cNvSpPr/>
          <p:nvPr/>
        </p:nvSpPr>
        <p:spPr>
          <a:xfrm>
            <a:off x="548640" y="3401568"/>
            <a:ext cx="2560320" cy="7772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Employee count by department</a:t>
            </a:r>
          </a:p>
        </p:txBody>
      </p:sp>
      <p:sp>
        <p:nvSpPr>
          <p:cNvPr id="22" name="Card"/>
          <p:cNvSpPr/>
          <p:nvPr/>
        </p:nvSpPr>
        <p:spPr>
          <a:xfrm>
            <a:off x="3291840" y="3401568"/>
            <a:ext cx="2560320" cy="7772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Who has the highest overtime?</a:t>
            </a:r>
          </a:p>
        </p:txBody>
      </p:sp>
      <p:sp>
        <p:nvSpPr>
          <p:cNvPr id="23" name="Card"/>
          <p:cNvSpPr/>
          <p:nvPr/>
        </p:nvSpPr>
        <p:spPr>
          <a:xfrm>
            <a:off x="6035040" y="3401568"/>
            <a:ext cx="2560320" cy="7772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Average performance rating by department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AGENTS • LLAMA SQL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Llama SQL Agent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Uses a local Llama / Ollama model to turn natural language into SQL.</a:t>
            </a:r>
          </a:p>
        </p:txBody>
      </p:sp>
      <p:sp>
        <p:nvSpPr>
          <p:cNvPr id="11" name="b1"/>
          <p:cNvSpPr/>
          <p:nvPr/>
        </p:nvSpPr>
        <p:spPr>
          <a:xfrm>
            <a:off x="548640" y="1965960"/>
            <a:ext cx="2194560" cy="86868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Llama generates SQL</a:t>
            </a:r>
          </a:p>
        </p:txBody>
      </p:sp>
      <p:sp>
        <p:nvSpPr>
          <p:cNvPr id="12" name="shield"/>
          <p:cNvSpPr/>
          <p:nvPr/>
        </p:nvSpPr>
        <p:spPr>
          <a:xfrm>
            <a:off x="3200400" y="1965960"/>
            <a:ext cx="2194560" cy="868680"/>
          </a:xfrm>
          <a:prstGeom prst="homePlate">
            <a:avLst/>
          </a:prstGeom>
          <a:solidFill>
            <a:srgbClr val="0E2A2A"/>
          </a:solidFill>
          <a:ln w="1587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34D399"/>
                </a:solidFill>
                <a:latin typeface="Trebuchet MS" pitchFamily="34" charset="0"/>
                <a:cs typeface="Trebuchet MS"/>
              </a:rPr>
              <a:t>Safety Check</a:t>
            </a:r>
          </a:p>
        </p:txBody>
      </p:sp>
      <p:sp>
        <p:nvSpPr>
          <p:cNvPr id="13" name="b3"/>
          <p:cNvSpPr/>
          <p:nvPr/>
        </p:nvSpPr>
        <p:spPr>
          <a:xfrm>
            <a:off x="5852160" y="1965960"/>
            <a:ext cx="2194560" cy="86868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MySQL</a:t>
            </a:r>
          </a:p>
        </p:txBody>
      </p:sp>
      <p:sp>
        <p:nvSpPr>
          <p:cNvPr id="14" name="Arrow"/>
          <p:cNvSpPr/>
          <p:nvPr/>
        </p:nvSpPr>
        <p:spPr>
          <a:xfrm>
            <a:off x="2871216" y="232257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5522976" y="232257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sH"/>
          <p:cNvSpPr/>
          <p:nvPr/>
        </p:nvSpPr>
        <p:spPr>
          <a:xfrm>
            <a:off x="548640" y="32461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SAFETY GUARDRAILS</a:t>
            </a:r>
          </a:p>
        </p:txBody>
      </p:sp>
      <p:sp>
        <p:nvSpPr>
          <p:cNvPr id="17" name="Card"/>
          <p:cNvSpPr/>
          <p:nvPr/>
        </p:nvSpPr>
        <p:spPr>
          <a:xfrm>
            <a:off x="548640" y="3584448"/>
            <a:ext cx="2560320" cy="7315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Only SELECT statements allowed</a:t>
            </a:r>
          </a:p>
        </p:txBody>
      </p:sp>
      <p:sp>
        <p:nvSpPr>
          <p:cNvPr id="18" name="Card"/>
          <p:cNvSpPr/>
          <p:nvPr/>
        </p:nvSpPr>
        <p:spPr>
          <a:xfrm>
            <a:off x="3291840" y="3584448"/>
            <a:ext cx="2560320" cy="7315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Blocks DELETE / DROP / UPDATE / INSERT</a:t>
            </a:r>
          </a:p>
        </p:txBody>
      </p:sp>
      <p:sp>
        <p:nvSpPr>
          <p:cNvPr id="19" name="Card"/>
          <p:cNvSpPr/>
          <p:nvPr/>
        </p:nvSpPr>
        <p:spPr>
          <a:xfrm>
            <a:off x="6035040" y="3584448"/>
            <a:ext cx="2560320" cy="73152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Prevents any dangerous changes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AGENTS • RAG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RAG Agent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The RAG Agent answers HR policy &amp; document questions.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920240"/>
            <a:ext cx="114300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Policy document</a:t>
            </a:r>
          </a:p>
        </p:txBody>
      </p:sp>
      <p:sp>
        <p:nvSpPr>
          <p:cNvPr id="12" name="Arrow"/>
          <p:cNvSpPr/>
          <p:nvPr/>
        </p:nvSpPr>
        <p:spPr>
          <a:xfrm>
            <a:off x="1682496" y="227685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3" name="Card"/>
          <p:cNvSpPr/>
          <p:nvPr/>
        </p:nvSpPr>
        <p:spPr>
          <a:xfrm>
            <a:off x="1874520" y="1920240"/>
            <a:ext cx="114300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Unstructured</a:t>
            </a:r>
          </a:p>
        </p:txBody>
      </p:sp>
      <p:sp>
        <p:nvSpPr>
          <p:cNvPr id="14" name="Arrow"/>
          <p:cNvSpPr/>
          <p:nvPr/>
        </p:nvSpPr>
        <p:spPr>
          <a:xfrm>
            <a:off x="3008376" y="227685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3200400" y="1920240"/>
            <a:ext cx="114300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Chunks</a:t>
            </a:r>
          </a:p>
        </p:txBody>
      </p:sp>
      <p:sp>
        <p:nvSpPr>
          <p:cNvPr id="16" name="Arrow"/>
          <p:cNvSpPr/>
          <p:nvPr/>
        </p:nvSpPr>
        <p:spPr>
          <a:xfrm>
            <a:off x="4334256" y="227685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7" name="Card"/>
          <p:cNvSpPr/>
          <p:nvPr/>
        </p:nvSpPr>
        <p:spPr>
          <a:xfrm>
            <a:off x="4526280" y="1920240"/>
            <a:ext cx="114300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ChromaDB</a:t>
            </a:r>
          </a:p>
        </p:txBody>
      </p:sp>
      <p:sp>
        <p:nvSpPr>
          <p:cNvPr id="18" name="Arrow"/>
          <p:cNvSpPr/>
          <p:nvPr/>
        </p:nvSpPr>
        <p:spPr>
          <a:xfrm>
            <a:off x="5660136" y="227685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9" name="Card"/>
          <p:cNvSpPr/>
          <p:nvPr/>
        </p:nvSpPr>
        <p:spPr>
          <a:xfrm>
            <a:off x="5852160" y="1920240"/>
            <a:ext cx="114300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Retrieve context</a:t>
            </a:r>
          </a:p>
        </p:txBody>
      </p:sp>
      <p:sp>
        <p:nvSpPr>
          <p:cNvPr id="20" name="Arrow"/>
          <p:cNvSpPr/>
          <p:nvPr/>
        </p:nvSpPr>
        <p:spPr>
          <a:xfrm>
            <a:off x="6986016" y="227685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1" name="Card"/>
          <p:cNvSpPr/>
          <p:nvPr/>
        </p:nvSpPr>
        <p:spPr>
          <a:xfrm>
            <a:off x="7178040" y="1920240"/>
            <a:ext cx="114300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Llama answer</a:t>
            </a:r>
          </a:p>
        </p:txBody>
      </p:sp>
      <p:sp>
        <p:nvSpPr>
          <p:cNvPr id="22" name="exH"/>
          <p:cNvSpPr/>
          <p:nvPr/>
        </p:nvSpPr>
        <p:spPr>
          <a:xfrm>
            <a:off x="548640" y="310896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EXAMPLE QUESTIONS</a:t>
            </a:r>
          </a:p>
        </p:txBody>
      </p:sp>
      <p:sp>
        <p:nvSpPr>
          <p:cNvPr id="23" name="Card"/>
          <p:cNvSpPr/>
          <p:nvPr/>
        </p:nvSpPr>
        <p:spPr>
          <a:xfrm>
            <a:off x="548640" y="3447288"/>
            <a:ext cx="2560320" cy="7772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What is the leave approval policy?</a:t>
            </a:r>
          </a:p>
        </p:txBody>
      </p:sp>
      <p:sp>
        <p:nvSpPr>
          <p:cNvPr id="24" name="Card"/>
          <p:cNvSpPr/>
          <p:nvPr/>
        </p:nvSpPr>
        <p:spPr>
          <a:xfrm>
            <a:off x="3291840" y="3447288"/>
            <a:ext cx="2560320" cy="7772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Who can access payroll information?</a:t>
            </a:r>
          </a:p>
        </p:txBody>
      </p:sp>
      <p:sp>
        <p:nvSpPr>
          <p:cNvPr id="25" name="Card"/>
          <p:cNvSpPr/>
          <p:nvPr/>
        </p:nvSpPr>
        <p:spPr>
          <a:xfrm>
            <a:off x="6035040" y="3447288"/>
            <a:ext cx="2560320" cy="77724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Find a frequently late employee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AGENTS • ANALYTICS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Analytics Agent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Intro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The Analytics Agent uses pandas + scikit-learn to find risks.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MySQL</a:t>
            </a:r>
          </a:p>
        </p:txBody>
      </p:sp>
      <p:sp>
        <p:nvSpPr>
          <p:cNvPr id="12" name="Arrow"/>
          <p:cNvSpPr/>
          <p:nvPr/>
        </p:nvSpPr>
        <p:spPr>
          <a:xfrm>
            <a:off x="1984248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3" name="Card"/>
          <p:cNvSpPr/>
          <p:nvPr/>
        </p:nvSpPr>
        <p:spPr>
          <a:xfrm>
            <a:off x="2203704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pandas DataFrame</a:t>
            </a:r>
          </a:p>
        </p:txBody>
      </p:sp>
      <p:sp>
        <p:nvSpPr>
          <p:cNvPr id="14" name="Arrow"/>
          <p:cNvSpPr/>
          <p:nvPr/>
        </p:nvSpPr>
        <p:spPr>
          <a:xfrm>
            <a:off x="3639312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3858768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Feature calculation</a:t>
            </a:r>
          </a:p>
        </p:txBody>
      </p:sp>
      <p:sp>
        <p:nvSpPr>
          <p:cNvPr id="16" name="Arrow"/>
          <p:cNvSpPr/>
          <p:nvPr/>
        </p:nvSpPr>
        <p:spPr>
          <a:xfrm>
            <a:off x="5294376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7" name="Card"/>
          <p:cNvSpPr/>
          <p:nvPr/>
        </p:nvSpPr>
        <p:spPr>
          <a:xfrm>
            <a:off x="5513832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IsolationForest</a:t>
            </a:r>
          </a:p>
        </p:txBody>
      </p:sp>
      <p:sp>
        <p:nvSpPr>
          <p:cNvPr id="18" name="Arrow"/>
          <p:cNvSpPr/>
          <p:nvPr/>
        </p:nvSpPr>
        <p:spPr>
          <a:xfrm>
            <a:off x="6949440" y="2231136"/>
            <a:ext cx="201168" cy="155448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9" name="Card"/>
          <p:cNvSpPr/>
          <p:nvPr/>
        </p:nvSpPr>
        <p:spPr>
          <a:xfrm>
            <a:off x="7168896" y="1874520"/>
            <a:ext cx="1417320" cy="8686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Risk results</a:t>
            </a:r>
          </a:p>
        </p:txBody>
      </p:sp>
      <p:sp>
        <p:nvSpPr>
          <p:cNvPr id="20" name="dH"/>
          <p:cNvSpPr/>
          <p:nvPr/>
        </p:nvSpPr>
        <p:spPr>
          <a:xfrm>
            <a:off x="548640" y="306324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WHAT IT DETECTS</a:t>
            </a:r>
          </a:p>
        </p:txBody>
      </p:sp>
      <p:sp>
        <p:nvSpPr>
          <p:cNvPr id="21" name="Card"/>
          <p:cNvSpPr/>
          <p:nvPr/>
        </p:nvSpPr>
        <p:spPr>
          <a:xfrm>
            <a:off x="548640" y="3401568"/>
            <a:ext cx="2560320" cy="73152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Attendance risk</a:t>
            </a:r>
          </a:p>
        </p:txBody>
      </p:sp>
      <p:sp>
        <p:nvSpPr>
          <p:cNvPr id="22" name="Card"/>
          <p:cNvSpPr/>
          <p:nvPr/>
        </p:nvSpPr>
        <p:spPr>
          <a:xfrm>
            <a:off x="3291840" y="3401568"/>
            <a:ext cx="2560320" cy="73152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Payroll anomalies</a:t>
            </a:r>
          </a:p>
        </p:txBody>
      </p:sp>
      <p:sp>
        <p:nvSpPr>
          <p:cNvPr id="23" name="Card"/>
          <p:cNvSpPr/>
          <p:nvPr/>
        </p:nvSpPr>
        <p:spPr>
          <a:xfrm>
            <a:off x="6035040" y="3401568"/>
            <a:ext cx="2560320" cy="73152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Department scorecard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ORCHESTRATION • ROUTING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LangGraph Orchestrator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router"/>
          <p:cNvSpPr/>
          <p:nvPr/>
        </p:nvSpPr>
        <p:spPr>
          <a:xfrm>
            <a:off x="3200400" y="1508760"/>
            <a:ext cx="2743200" cy="566928"/>
          </a:xfrm>
          <a:prstGeom prst="roundRect">
            <a:avLst>
              <a:gd name="adj" fmla="val 9000"/>
            </a:avLst>
          </a:prstGeom>
          <a:solidFill>
            <a:srgbClr val="22D3EE"/>
          </a:solidFill>
          <a:ln>
            <a:noFill/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LangGraph Router</a:t>
            </a:r>
          </a:p>
        </p:txBody>
      </p:sp>
      <p:sp>
        <p:nvSpPr>
          <p:cNvPr id="11" name="ep"/>
          <p:cNvSpPr/>
          <p:nvPr/>
        </p:nvSpPr>
        <p:spPr>
          <a:xfrm>
            <a:off x="3200400" y="2148840"/>
            <a:ext cx="2743200" cy="36576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POST /orchestrator/ask</a:t>
            </a:r>
          </a:p>
        </p:txBody>
      </p:sp>
      <p:cxnSp>
        <p:nvCxnSpPr>
          <p:cNvPr id="12" name="Conn"/>
          <p:cNvCxnSpPr/>
          <p:nvPr/>
        </p:nvCxnSpPr>
        <p:spPr>
          <a:xfrm flipH="1">
            <a:off x="1783080" y="2532888"/>
            <a:ext cx="2788920" cy="393192"/>
          </a:xfrm>
          <a:prstGeom prst="line">
            <a:avLst/>
          </a:prstGeom>
          <a:ln w="12700">
            <a:solidFill>
              <a:srgbClr val="22D3EE"/>
            </a:solidFill>
          </a:ln>
        </p:spPr>
      </p:cxnSp>
      <p:sp>
        <p:nvSpPr>
          <p:cNvPr id="13" name="Card"/>
          <p:cNvSpPr/>
          <p:nvPr/>
        </p:nvSpPr>
        <p:spPr>
          <a:xfrm>
            <a:off x="548640" y="2926080"/>
            <a:ext cx="2468880" cy="15544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12700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Trebuchet MS" pitchFamily="34" charset="0"/>
                <a:cs typeface="Trebuchet MS"/>
              </a:rPr>
              <a:t>SQL Agent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database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count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salary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overtime</a:t>
            </a:r>
          </a:p>
        </p:txBody>
      </p:sp>
      <p:cxnSp>
        <p:nvCxnSpPr>
          <p:cNvPr id="14" name="Conn"/>
          <p:cNvCxnSpPr/>
          <p:nvPr/>
        </p:nvCxnSpPr>
        <p:spPr>
          <a:xfrm>
            <a:off x="4572000" y="2532888"/>
            <a:ext cx="0" cy="393192"/>
          </a:xfrm>
          <a:prstGeom prst="line">
            <a:avLst/>
          </a:prstGeom>
          <a:ln w="12700">
            <a:solidFill>
              <a:srgbClr val="34D399"/>
            </a:solidFill>
          </a:ln>
        </p:spPr>
      </p:cxnSp>
      <p:sp>
        <p:nvSpPr>
          <p:cNvPr id="15" name="Card"/>
          <p:cNvSpPr/>
          <p:nvPr/>
        </p:nvSpPr>
        <p:spPr>
          <a:xfrm>
            <a:off x="3337560" y="2926080"/>
            <a:ext cx="2468880" cy="15544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12700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34D399"/>
                </a:solidFill>
                <a:latin typeface="Trebuchet MS" pitchFamily="34" charset="0"/>
                <a:cs typeface="Trebuchet MS"/>
              </a:rPr>
              <a:t>RAG Agent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policy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privacy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access</a:t>
            </a:r>
          </a:p>
        </p:txBody>
      </p:sp>
      <p:cxnSp>
        <p:nvCxnSpPr>
          <p:cNvPr id="16" name="Conn"/>
          <p:cNvCxnSpPr/>
          <p:nvPr/>
        </p:nvCxnSpPr>
        <p:spPr>
          <a:xfrm>
            <a:off x="4572000" y="2532888"/>
            <a:ext cx="2788920" cy="393192"/>
          </a:xfrm>
          <a:prstGeom prst="line">
            <a:avLst/>
          </a:prstGeom>
          <a:ln w="12700">
            <a:solidFill>
              <a:srgbClr val="FBBF24"/>
            </a:solidFill>
          </a:ln>
        </p:spPr>
      </p:cxnSp>
      <p:sp>
        <p:nvSpPr>
          <p:cNvPr id="17" name="Card"/>
          <p:cNvSpPr/>
          <p:nvPr/>
        </p:nvSpPr>
        <p:spPr>
          <a:xfrm>
            <a:off x="6126480" y="2926080"/>
            <a:ext cx="2468880" cy="15544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12700">
            <a:solidFill>
              <a:srgbClr val="FBBF24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BBF24"/>
                </a:solidFill>
                <a:latin typeface="Trebuchet MS" pitchFamily="34" charset="0"/>
                <a:cs typeface="Trebuchet MS"/>
              </a:rPr>
              <a:t>Analytics Agent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risk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anomaly</a:t>
            </a:r>
          </a:p>
          <a:p>
            <a:pPr algn="ctr">
              <a:lnSpc>
                <a:spcPct val="96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E6EEFF"/>
                </a:solidFill>
                <a:latin typeface="Consolas" pitchFamily="34" charset="0"/>
                <a:cs typeface="Consolas"/>
              </a:rPr>
              <a:t>scorecard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SYSTEM • ARCHITECTURE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Final Architecture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548640" y="1371600"/>
            <a:ext cx="8046720" cy="365760"/>
          </a:xfrm>
          <a:prstGeom prst="roundRect">
            <a:avLst>
              <a:gd name="adj" fmla="val 9000"/>
            </a:avLst>
          </a:prstGeom>
          <a:solidFill>
            <a:srgbClr val="22D3EE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Employee Portal</a:t>
            </a:r>
          </a:p>
        </p:txBody>
      </p:sp>
      <p:sp>
        <p:nvSpPr>
          <p:cNvPr id="11" name="Arrow"/>
          <p:cNvSpPr/>
          <p:nvPr/>
        </p:nvSpPr>
        <p:spPr>
          <a:xfrm>
            <a:off x="4471416" y="1764792"/>
            <a:ext cx="201168" cy="128016"/>
          </a:xfrm>
          <a:prstGeom prst="down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548640" y="1920240"/>
            <a:ext cx="8046720" cy="36576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FastAPI API Gateway</a:t>
            </a:r>
          </a:p>
        </p:txBody>
      </p:sp>
      <p:sp>
        <p:nvSpPr>
          <p:cNvPr id="13" name="Arrow"/>
          <p:cNvSpPr/>
          <p:nvPr/>
        </p:nvSpPr>
        <p:spPr>
          <a:xfrm>
            <a:off x="4471416" y="2313432"/>
            <a:ext cx="201168" cy="128016"/>
          </a:xfrm>
          <a:prstGeom prst="down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548640" y="2468880"/>
            <a:ext cx="8046720" cy="347472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Middleware</a:t>
            </a:r>
          </a:p>
        </p:txBody>
      </p:sp>
      <p:sp>
        <p:nvSpPr>
          <p:cNvPr id="15" name="Arrow"/>
          <p:cNvSpPr/>
          <p:nvPr/>
        </p:nvSpPr>
        <p:spPr>
          <a:xfrm>
            <a:off x="4471416" y="2843784"/>
            <a:ext cx="201168" cy="128016"/>
          </a:xfrm>
          <a:prstGeom prst="down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6" name="Card"/>
          <p:cNvSpPr/>
          <p:nvPr/>
        </p:nvSpPr>
        <p:spPr>
          <a:xfrm>
            <a:off x="548640" y="2999232"/>
            <a:ext cx="8046720" cy="38404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cs typeface="Trebuchet MS"/>
              </a:rPr>
              <a:t>LangGraph Orchestrator</a:t>
            </a:r>
          </a:p>
        </p:txBody>
      </p:sp>
      <p:sp>
        <p:nvSpPr>
          <p:cNvPr id="17" name="Arrow"/>
          <p:cNvSpPr/>
          <p:nvPr/>
        </p:nvSpPr>
        <p:spPr>
          <a:xfrm>
            <a:off x="4471416" y="3419856"/>
            <a:ext cx="201168" cy="128016"/>
          </a:xfrm>
          <a:prstGeom prst="down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8" name="Card"/>
          <p:cNvSpPr/>
          <p:nvPr/>
        </p:nvSpPr>
        <p:spPr>
          <a:xfrm>
            <a:off x="548640" y="3566160"/>
            <a:ext cx="256032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SQL Agent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4114800"/>
            <a:ext cx="256032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MySQL</a:t>
            </a:r>
          </a:p>
        </p:txBody>
      </p:sp>
      <p:sp>
        <p:nvSpPr>
          <p:cNvPr id="20" name="Card"/>
          <p:cNvSpPr/>
          <p:nvPr/>
        </p:nvSpPr>
        <p:spPr>
          <a:xfrm>
            <a:off x="3291840" y="3566160"/>
            <a:ext cx="256032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RAG Agent</a:t>
            </a:r>
          </a:p>
        </p:txBody>
      </p:sp>
      <p:sp>
        <p:nvSpPr>
          <p:cNvPr id="21" name="Card"/>
          <p:cNvSpPr/>
          <p:nvPr/>
        </p:nvSpPr>
        <p:spPr>
          <a:xfrm>
            <a:off x="3291840" y="4114800"/>
            <a:ext cx="256032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ChromaDB + Llama</a:t>
            </a:r>
          </a:p>
        </p:txBody>
      </p:sp>
      <p:sp>
        <p:nvSpPr>
          <p:cNvPr id="22" name="Card"/>
          <p:cNvSpPr/>
          <p:nvPr/>
        </p:nvSpPr>
        <p:spPr>
          <a:xfrm>
            <a:off x="6035040" y="3566160"/>
            <a:ext cx="2560320" cy="45720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Analytics Agent</a:t>
            </a:r>
          </a:p>
        </p:txBody>
      </p:sp>
      <p:sp>
        <p:nvSpPr>
          <p:cNvPr id="23" name="Card"/>
          <p:cNvSpPr/>
          <p:nvPr/>
        </p:nvSpPr>
        <p:spPr>
          <a:xfrm>
            <a:off x="6035040" y="4114800"/>
            <a:ext cx="256032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pandas + scikit-learn</a:t>
            </a:r>
          </a:p>
        </p:txBody>
      </p:sp>
      <p:sp>
        <p:nvSpPr>
          <p:cNvPr id="24" name="Arrow"/>
          <p:cNvSpPr/>
          <p:nvPr/>
        </p:nvSpPr>
        <p:spPr>
          <a:xfrm>
            <a:off x="4471416" y="4608576"/>
            <a:ext cx="201168" cy="128016"/>
          </a:xfrm>
          <a:prstGeom prst="down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5" name="Card"/>
          <p:cNvSpPr/>
          <p:nvPr/>
        </p:nvSpPr>
        <p:spPr>
          <a:xfrm>
            <a:off x="548640" y="4736592"/>
            <a:ext cx="8046720" cy="365760"/>
          </a:xfrm>
          <a:prstGeom prst="roundRect">
            <a:avLst>
              <a:gd name="adj" fmla="val 9000"/>
            </a:avLst>
          </a:prstGeom>
          <a:solidFill>
            <a:srgbClr val="34D399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Final Response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DEMO • LIVE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Demo Questions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548640" y="1554480"/>
            <a:ext cx="365760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spc="15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Question</a:t>
            </a:r>
          </a:p>
        </p:txBody>
      </p:sp>
      <p:sp>
        <p:nvSpPr>
          <p:cNvPr id="11" name="Card"/>
          <p:cNvSpPr/>
          <p:nvPr/>
        </p:nvSpPr>
        <p:spPr>
          <a:xfrm>
            <a:off x="4297680" y="1554480"/>
            <a:ext cx="169164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spc="15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Agent</a:t>
            </a:r>
          </a:p>
        </p:txBody>
      </p:sp>
      <p:sp>
        <p:nvSpPr>
          <p:cNvPr id="12" name="Card"/>
          <p:cNvSpPr/>
          <p:nvPr/>
        </p:nvSpPr>
        <p:spPr>
          <a:xfrm>
            <a:off x="6080760" y="1554480"/>
            <a:ext cx="2514600" cy="457200"/>
          </a:xfrm>
          <a:prstGeom prst="roundRect">
            <a:avLst>
              <a:gd name="adj" fmla="val 9000"/>
            </a:avLst>
          </a:prstGeom>
          <a:solidFill>
            <a:srgbClr val="13264D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1100" b="1" spc="15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Result</a:t>
            </a:r>
          </a:p>
        </p:txBody>
      </p:sp>
      <p:sp>
        <p:nvSpPr>
          <p:cNvPr id="13" name="Card"/>
          <p:cNvSpPr/>
          <p:nvPr/>
        </p:nvSpPr>
        <p:spPr>
          <a:xfrm>
            <a:off x="548640" y="2121408"/>
            <a:ext cx="365760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82880" tIns="54864" rIns="128016" bIns="54864" rtlCol="0" anchor="ctr">
            <a:norm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Show employee count by department</a:t>
            </a:r>
          </a:p>
        </p:txBody>
      </p:sp>
      <p:sp>
        <p:nvSpPr>
          <p:cNvPr id="14" name="Card"/>
          <p:cNvSpPr/>
          <p:nvPr/>
        </p:nvSpPr>
        <p:spPr>
          <a:xfrm>
            <a:off x="4297680" y="2121408"/>
            <a:ext cx="169164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12700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cs typeface="Trebuchet MS"/>
              </a:rPr>
              <a:t>SQL Agent</a:t>
            </a:r>
          </a:p>
        </p:txBody>
      </p:sp>
      <p:sp>
        <p:nvSpPr>
          <p:cNvPr id="15" name="Card"/>
          <p:cNvSpPr/>
          <p:nvPr/>
        </p:nvSpPr>
        <p:spPr>
          <a:xfrm>
            <a:off x="6080760" y="2121408"/>
            <a:ext cx="251460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Department counts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2980944"/>
            <a:ext cx="365760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82880" tIns="54864" rIns="128016" bIns="54864" rtlCol="0" anchor="ctr">
            <a:norm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Who can access payroll information?</a:t>
            </a:r>
          </a:p>
        </p:txBody>
      </p:sp>
      <p:sp>
        <p:nvSpPr>
          <p:cNvPr id="17" name="Card"/>
          <p:cNvSpPr/>
          <p:nvPr/>
        </p:nvSpPr>
        <p:spPr>
          <a:xfrm>
            <a:off x="4297680" y="2980944"/>
            <a:ext cx="169164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12700">
            <a:solidFill>
              <a:srgbClr val="34D399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cs typeface="Trebuchet MS"/>
              </a:rPr>
              <a:t>RAG Agent</a:t>
            </a:r>
          </a:p>
        </p:txBody>
      </p:sp>
      <p:sp>
        <p:nvSpPr>
          <p:cNvPr id="18" name="Card"/>
          <p:cNvSpPr/>
          <p:nvPr/>
        </p:nvSpPr>
        <p:spPr>
          <a:xfrm>
            <a:off x="6080760" y="2980944"/>
            <a:ext cx="251460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Policy answer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3840480"/>
            <a:ext cx="365760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82880" tIns="54864" rIns="128016" bIns="54864" rtlCol="0" anchor="ctr">
            <a:norm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Which employees have attendance risk?</a:t>
            </a:r>
          </a:p>
        </p:txBody>
      </p:sp>
      <p:sp>
        <p:nvSpPr>
          <p:cNvPr id="20" name="Card"/>
          <p:cNvSpPr/>
          <p:nvPr/>
        </p:nvSpPr>
        <p:spPr>
          <a:xfrm>
            <a:off x="4297680" y="3840480"/>
            <a:ext cx="169164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12700">
            <a:solidFill>
              <a:srgbClr val="FBBF24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Trebuchet MS" pitchFamily="34" charset="0"/>
                <a:cs typeface="Trebuchet MS"/>
              </a:rPr>
              <a:t>Analytics Agent</a:t>
            </a:r>
          </a:p>
        </p:txBody>
      </p:sp>
      <p:sp>
        <p:nvSpPr>
          <p:cNvPr id="21" name="Card"/>
          <p:cNvSpPr/>
          <p:nvPr/>
        </p:nvSpPr>
        <p:spPr>
          <a:xfrm>
            <a:off x="6080760" y="3840480"/>
            <a:ext cx="2514600" cy="749808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Risk-ranked employees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PROJECT • DEBUGGING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Challenges and Fixes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548640" y="1517904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9525">
            <a:solidFill>
              <a:srgbClr val="F87171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MySQL service stopped</a:t>
            </a:r>
          </a:p>
        </p:txBody>
      </p:sp>
      <p:sp>
        <p:nvSpPr>
          <p:cNvPr id="11" name="Arrow"/>
          <p:cNvSpPr/>
          <p:nvPr/>
        </p:nvSpPr>
        <p:spPr>
          <a:xfrm>
            <a:off x="4261104" y="1682496"/>
            <a:ext cx="393192" cy="146304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4846320" y="1517904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9525">
            <a:solidFill>
              <a:srgbClr val="34D399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Set the service to Automatic</a:t>
            </a:r>
          </a:p>
        </p:txBody>
      </p:sp>
      <p:sp>
        <p:nvSpPr>
          <p:cNvPr id="13" name="Card"/>
          <p:cNvSpPr/>
          <p:nvPr/>
        </p:nvSpPr>
        <p:spPr>
          <a:xfrm>
            <a:off x="548640" y="2071116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9525">
            <a:solidFill>
              <a:srgbClr val="F87171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Employee count showed 59</a:t>
            </a:r>
          </a:p>
        </p:txBody>
      </p:sp>
      <p:sp>
        <p:nvSpPr>
          <p:cNvPr id="14" name="Arrow"/>
          <p:cNvSpPr/>
          <p:nvPr/>
        </p:nvSpPr>
        <p:spPr>
          <a:xfrm>
            <a:off x="4261104" y="2235708"/>
            <a:ext cx="393192" cy="146304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4846320" y="2071116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9525">
            <a:solidFill>
              <a:srgbClr val="34D399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Fixed a missing / null import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2624328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9525">
            <a:solidFill>
              <a:srgbClr val="F87171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CSV only partially imported</a:t>
            </a:r>
          </a:p>
        </p:txBody>
      </p:sp>
      <p:sp>
        <p:nvSpPr>
          <p:cNvPr id="17" name="Arrow"/>
          <p:cNvSpPr/>
          <p:nvPr/>
        </p:nvSpPr>
        <p:spPr>
          <a:xfrm>
            <a:off x="4261104" y="2788920"/>
            <a:ext cx="393192" cy="146304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8" name="Card"/>
          <p:cNvSpPr/>
          <p:nvPr/>
        </p:nvSpPr>
        <p:spPr>
          <a:xfrm>
            <a:off x="4846320" y="2624328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9525">
            <a:solidFill>
              <a:srgbClr val="34D399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Repaired &amp; validated all counts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3177540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9525">
            <a:solidFill>
              <a:srgbClr val="F87171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scikit-learn import issue</a:t>
            </a:r>
          </a:p>
        </p:txBody>
      </p:sp>
      <p:sp>
        <p:nvSpPr>
          <p:cNvPr id="20" name="Arrow"/>
          <p:cNvSpPr/>
          <p:nvPr/>
        </p:nvSpPr>
        <p:spPr>
          <a:xfrm>
            <a:off x="4261104" y="3342132"/>
            <a:ext cx="393192" cy="146304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1" name="Card"/>
          <p:cNvSpPr/>
          <p:nvPr/>
        </p:nvSpPr>
        <p:spPr>
          <a:xfrm>
            <a:off x="4846320" y="3177540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9525">
            <a:solidFill>
              <a:srgbClr val="34D399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Installed the correct package</a:t>
            </a:r>
          </a:p>
        </p:txBody>
      </p:sp>
      <p:sp>
        <p:nvSpPr>
          <p:cNvPr id="22" name="Card"/>
          <p:cNvSpPr/>
          <p:nvPr/>
        </p:nvSpPr>
        <p:spPr>
          <a:xfrm>
            <a:off x="548640" y="3730752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9525">
            <a:solidFill>
              <a:srgbClr val="F87171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Wrong routing for payroll</a:t>
            </a:r>
          </a:p>
        </p:txBody>
      </p:sp>
      <p:sp>
        <p:nvSpPr>
          <p:cNvPr id="23" name="Arrow"/>
          <p:cNvSpPr/>
          <p:nvPr/>
        </p:nvSpPr>
        <p:spPr>
          <a:xfrm>
            <a:off x="4261104" y="3895344"/>
            <a:ext cx="393192" cy="146304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4" name="Card"/>
          <p:cNvSpPr/>
          <p:nvPr/>
        </p:nvSpPr>
        <p:spPr>
          <a:xfrm>
            <a:off x="4846320" y="3730752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9525">
            <a:solidFill>
              <a:srgbClr val="34D399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Improved the orchestrator logic</a:t>
            </a:r>
          </a:p>
        </p:txBody>
      </p:sp>
      <p:sp>
        <p:nvSpPr>
          <p:cNvPr id="25" name="Card"/>
          <p:cNvSpPr/>
          <p:nvPr/>
        </p:nvSpPr>
        <p:spPr>
          <a:xfrm>
            <a:off x="548640" y="4283964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3A1620"/>
          </a:solidFill>
          <a:ln w="9525">
            <a:solidFill>
              <a:srgbClr val="F87171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RAG needed an index</a:t>
            </a:r>
          </a:p>
        </p:txBody>
      </p:sp>
      <p:sp>
        <p:nvSpPr>
          <p:cNvPr id="26" name="Arrow"/>
          <p:cNvSpPr/>
          <p:nvPr/>
        </p:nvSpPr>
        <p:spPr>
          <a:xfrm>
            <a:off x="4261104" y="4448556"/>
            <a:ext cx="393192" cy="146304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7" name="Card"/>
          <p:cNvSpPr/>
          <p:nvPr/>
        </p:nvSpPr>
        <p:spPr>
          <a:xfrm>
            <a:off x="4846320" y="4283964"/>
            <a:ext cx="3520440" cy="475488"/>
          </a:xfrm>
          <a:prstGeom prst="roundRect">
            <a:avLst>
              <a:gd name="adj" fmla="val 9000"/>
            </a:avLst>
          </a:prstGeom>
          <a:solidFill>
            <a:srgbClr val="0E2A2A"/>
          </a:solidFill>
          <a:ln w="9525">
            <a:solidFill>
              <a:srgbClr val="34D399"/>
            </a:solidFill>
          </a:ln>
        </p:spPr>
        <p:txBody>
          <a:bodyPr wrap="square" lIns="164592" tIns="54864" rIns="128016" bIns="54864" rtlCol="0" anchor="ctr">
            <a:normAutofit/>
          </a:bodyPr>
          <a:lstStyle/>
          <a:p>
            <a:pPr algn="l">
              <a:lnSpc>
                <a:spcPct val="94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Created the ChromaDB index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PROJECT • LEARNINGS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What I Learned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548640" y="1554480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1" name="ck"/>
          <p:cNvSpPr/>
          <p:nvPr/>
        </p:nvSpPr>
        <p:spPr>
          <a:xfrm>
            <a:off x="694944" y="1682496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12" name="t"/>
          <p:cNvSpPr/>
          <p:nvPr/>
        </p:nvSpPr>
        <p:spPr>
          <a:xfrm>
            <a:off x="1060704" y="1554480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Relational database design</a:t>
            </a:r>
          </a:p>
        </p:txBody>
      </p:sp>
      <p:sp>
        <p:nvSpPr>
          <p:cNvPr id="13" name="Card"/>
          <p:cNvSpPr/>
          <p:nvPr/>
        </p:nvSpPr>
        <p:spPr>
          <a:xfrm>
            <a:off x="548640" y="2157984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4" name="ck"/>
          <p:cNvSpPr/>
          <p:nvPr/>
        </p:nvSpPr>
        <p:spPr>
          <a:xfrm>
            <a:off x="694944" y="228600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15" name="t"/>
          <p:cNvSpPr/>
          <p:nvPr/>
        </p:nvSpPr>
        <p:spPr>
          <a:xfrm>
            <a:off x="1060704" y="2157984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MySQL data loading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2761488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7" name="ck"/>
          <p:cNvSpPr/>
          <p:nvPr/>
        </p:nvSpPr>
        <p:spPr>
          <a:xfrm>
            <a:off x="694944" y="2889504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18" name="t"/>
          <p:cNvSpPr/>
          <p:nvPr/>
        </p:nvSpPr>
        <p:spPr>
          <a:xfrm>
            <a:off x="1060704" y="2761488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Python–MySQL connection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3364992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0" name="ck"/>
          <p:cNvSpPr/>
          <p:nvPr/>
        </p:nvSpPr>
        <p:spPr>
          <a:xfrm>
            <a:off x="694944" y="3493008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21" name="t"/>
          <p:cNvSpPr/>
          <p:nvPr/>
        </p:nvSpPr>
        <p:spPr>
          <a:xfrm>
            <a:off x="1060704" y="336499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FastAPI APIs</a:t>
            </a:r>
          </a:p>
        </p:txBody>
      </p:sp>
      <p:sp>
        <p:nvSpPr>
          <p:cNvPr id="22" name="Card"/>
          <p:cNvSpPr/>
          <p:nvPr/>
        </p:nvSpPr>
        <p:spPr>
          <a:xfrm>
            <a:off x="548640" y="3968496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3" name="ck"/>
          <p:cNvSpPr/>
          <p:nvPr/>
        </p:nvSpPr>
        <p:spPr>
          <a:xfrm>
            <a:off x="694944" y="4096512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24" name="t"/>
          <p:cNvSpPr/>
          <p:nvPr/>
        </p:nvSpPr>
        <p:spPr>
          <a:xfrm>
            <a:off x="1060704" y="3968496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Swagger API testing</a:t>
            </a:r>
          </a:p>
        </p:txBody>
      </p:sp>
      <p:sp>
        <p:nvSpPr>
          <p:cNvPr id="25" name="Card"/>
          <p:cNvSpPr/>
          <p:nvPr/>
        </p:nvSpPr>
        <p:spPr>
          <a:xfrm>
            <a:off x="4709160" y="1554480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6" name="ck"/>
          <p:cNvSpPr/>
          <p:nvPr/>
        </p:nvSpPr>
        <p:spPr>
          <a:xfrm>
            <a:off x="4855464" y="1682496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27" name="t"/>
          <p:cNvSpPr/>
          <p:nvPr/>
        </p:nvSpPr>
        <p:spPr>
          <a:xfrm>
            <a:off x="5221224" y="1554480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SQL Agent design</a:t>
            </a:r>
          </a:p>
        </p:txBody>
      </p:sp>
      <p:sp>
        <p:nvSpPr>
          <p:cNvPr id="28" name="Card"/>
          <p:cNvSpPr/>
          <p:nvPr/>
        </p:nvSpPr>
        <p:spPr>
          <a:xfrm>
            <a:off x="4709160" y="2157984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9" name="ck"/>
          <p:cNvSpPr/>
          <p:nvPr/>
        </p:nvSpPr>
        <p:spPr>
          <a:xfrm>
            <a:off x="4855464" y="228600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30" name="t"/>
          <p:cNvSpPr/>
          <p:nvPr/>
        </p:nvSpPr>
        <p:spPr>
          <a:xfrm>
            <a:off x="5221224" y="2157984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RAG with ChromaDB</a:t>
            </a:r>
          </a:p>
        </p:txBody>
      </p:sp>
      <p:sp>
        <p:nvSpPr>
          <p:cNvPr id="31" name="Card"/>
          <p:cNvSpPr/>
          <p:nvPr/>
        </p:nvSpPr>
        <p:spPr>
          <a:xfrm>
            <a:off x="4709160" y="2761488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2" name="ck"/>
          <p:cNvSpPr/>
          <p:nvPr/>
        </p:nvSpPr>
        <p:spPr>
          <a:xfrm>
            <a:off x="4855464" y="2889504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33" name="t"/>
          <p:cNvSpPr/>
          <p:nvPr/>
        </p:nvSpPr>
        <p:spPr>
          <a:xfrm>
            <a:off x="5221224" y="2761488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Analytics with pandas / scikit-learn</a:t>
            </a:r>
          </a:p>
        </p:txBody>
      </p:sp>
      <p:sp>
        <p:nvSpPr>
          <p:cNvPr id="34" name="Card"/>
          <p:cNvSpPr/>
          <p:nvPr/>
        </p:nvSpPr>
        <p:spPr>
          <a:xfrm>
            <a:off x="4709160" y="3364992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5" name="ck"/>
          <p:cNvSpPr/>
          <p:nvPr/>
        </p:nvSpPr>
        <p:spPr>
          <a:xfrm>
            <a:off x="4855464" y="3493008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36" name="t"/>
          <p:cNvSpPr/>
          <p:nvPr/>
        </p:nvSpPr>
        <p:spPr>
          <a:xfrm>
            <a:off x="5221224" y="3364992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LangGraph orchestration</a:t>
            </a:r>
          </a:p>
        </p:txBody>
      </p:sp>
      <p:sp>
        <p:nvSpPr>
          <p:cNvPr id="37" name="Card"/>
          <p:cNvSpPr/>
          <p:nvPr/>
        </p:nvSpPr>
        <p:spPr>
          <a:xfrm>
            <a:off x="4709160" y="3968496"/>
            <a:ext cx="3886200" cy="512064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8" name="ck"/>
          <p:cNvSpPr/>
          <p:nvPr/>
        </p:nvSpPr>
        <p:spPr>
          <a:xfrm>
            <a:off x="4855464" y="4096512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39" name="t"/>
          <p:cNvSpPr/>
          <p:nvPr/>
        </p:nvSpPr>
        <p:spPr>
          <a:xfrm>
            <a:off x="5221224" y="3968496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Debugging real backend issues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PROJECT • CONCLUSION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Conclusion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badgeCard"/>
          <p:cNvSpPr/>
          <p:nvPr/>
        </p:nvSpPr>
        <p:spPr>
          <a:xfrm>
            <a:off x="548640" y="155448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0E1E3F"/>
          </a:solidFill>
          <a:ln w="15875">
            <a:solidFill>
              <a:srgbClr val="34D399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1" name="bigck"/>
          <p:cNvSpPr/>
          <p:nvPr/>
        </p:nvSpPr>
        <p:spPr>
          <a:xfrm>
            <a:off x="1325880" y="1920240"/>
            <a:ext cx="914400" cy="9144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✓</a:t>
            </a:r>
          </a:p>
        </p:txBody>
      </p:sp>
      <p:sp>
        <p:nvSpPr>
          <p:cNvPr id="12" name="cmp"/>
          <p:cNvSpPr/>
          <p:nvPr/>
        </p:nvSpPr>
        <p:spPr>
          <a:xfrm>
            <a:off x="685800" y="29718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Completed</a:t>
            </a:r>
          </a:p>
        </p:txBody>
      </p:sp>
      <p:sp>
        <p:nvSpPr>
          <p:cNvPr id="13" name="sub"/>
          <p:cNvSpPr/>
          <p:nvPr/>
        </p:nvSpPr>
        <p:spPr>
          <a:xfrm>
            <a:off x="68580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9FB3D9"/>
                </a:solidFill>
                <a:latin typeface="Trebuchet MS" pitchFamily="34" charset="0"/>
                <a:cs typeface="Trebuchet MS"/>
              </a:rPr>
              <a:t>AI-Powered HR Backend</a:t>
            </a:r>
          </a:p>
        </p:txBody>
      </p:sp>
      <p:sp>
        <p:nvSpPr>
          <p:cNvPr id="14" name="h"/>
          <p:cNvSpPr/>
          <p:nvPr/>
        </p:nvSpPr>
        <p:spPr>
          <a:xfrm>
            <a:off x="3291840" y="15179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050" b="1" spc="250" dirty="0">
                <a:solidFill>
                  <a:srgbClr val="9FB3D9"/>
                </a:solidFill>
                <a:latin typeface="Consolas" pitchFamily="34" charset="0"/>
                <a:cs typeface="Consolas"/>
              </a:rPr>
              <a:t>THE SYSTEM NOW…</a:t>
            </a:r>
          </a:p>
        </p:txBody>
      </p:sp>
      <p:sp>
        <p:nvSpPr>
          <p:cNvPr id="15" name="p"/>
          <p:cNvSpPr/>
          <p:nvPr/>
        </p:nvSpPr>
        <p:spPr>
          <a:xfrm>
            <a:off x="3291840" y="187452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Stores structured HR data</a:t>
            </a:r>
          </a:p>
        </p:txBody>
      </p:sp>
      <p:sp>
        <p:nvSpPr>
          <p:cNvPr id="16" name="p"/>
          <p:cNvSpPr/>
          <p:nvPr/>
        </p:nvSpPr>
        <p:spPr>
          <a:xfrm>
            <a:off x="3291840" y="224028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Provides clean REST APIs</a:t>
            </a:r>
          </a:p>
        </p:txBody>
      </p:sp>
      <p:sp>
        <p:nvSpPr>
          <p:cNvPr id="17" name="p"/>
          <p:cNvSpPr/>
          <p:nvPr/>
        </p:nvSpPr>
        <p:spPr>
          <a:xfrm>
            <a:off x="3291840" y="260604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Answers database questions</a:t>
            </a:r>
          </a:p>
        </p:txBody>
      </p:sp>
      <p:sp>
        <p:nvSpPr>
          <p:cNvPr id="18" name="p"/>
          <p:cNvSpPr/>
          <p:nvPr/>
        </p:nvSpPr>
        <p:spPr>
          <a:xfrm>
            <a:off x="3291840" y="297180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Answers policy questions</a:t>
            </a:r>
          </a:p>
        </p:txBody>
      </p:sp>
      <p:sp>
        <p:nvSpPr>
          <p:cNvPr id="19" name="p"/>
          <p:cNvSpPr/>
          <p:nvPr/>
        </p:nvSpPr>
        <p:spPr>
          <a:xfrm>
            <a:off x="3291840" y="333756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Detects HR risks</a:t>
            </a:r>
          </a:p>
        </p:txBody>
      </p:sp>
      <p:sp>
        <p:nvSpPr>
          <p:cNvPr id="20" name="p"/>
          <p:cNvSpPr/>
          <p:nvPr/>
        </p:nvSpPr>
        <p:spPr>
          <a:xfrm>
            <a:off x="3291840" y="370332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buClr>
                <a:srgbClr val="34D399"/>
              </a:buClr>
              <a:buFont typeface="Arial"/>
              <a:buChar char="•"/>
            </a:pPr>
            <a:r>
              <a:rPr lang="en-US" sz="1200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Routes questions intelligently via LangGraph</a:t>
            </a:r>
          </a:p>
        </p:txBody>
      </p:sp>
      <p:sp>
        <p:nvSpPr>
          <p:cNvPr id="21" name="Card"/>
          <p:cNvSpPr/>
          <p:nvPr/>
        </p:nvSpPr>
        <p:spPr>
          <a:xfrm>
            <a:off x="548640" y="4206240"/>
            <a:ext cx="8046720" cy="603504"/>
          </a:xfrm>
          <a:prstGeom prst="roundRect">
            <a:avLst>
              <a:gd name="adj" fmla="val 8000"/>
            </a:avLst>
          </a:prstGeom>
          <a:solidFill>
            <a:srgbClr val="13264D"/>
          </a:solidFill>
          <a:ln w="9525">
            <a:solidFill>
              <a:srgbClr val="22D3EE"/>
            </a:solidFill>
          </a:ln>
        </p:spPr>
        <p:txBody>
          <a:bodyPr wrap="square" lIns="128016" tIns="54864" rIns="128016" bIns="54864" rtlCol="0" anchor="ctr">
            <a:normAutofit/>
          </a:bodyPr>
          <a:lstStyle/>
          <a:p>
            <a:pPr algn="ctr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Databases, APIs, LLMs, RAG, analytics, and orchestration working together in one HR application.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7818120" y="45720"/>
            <a:ext cx="1234440" cy="1234440"/>
          </a:xfrm>
          <a:prstGeom prst="ellipse">
            <a:avLst/>
          </a:prstGeom>
          <a:noFill/>
          <a:ln w="12700">
            <a:solidFill>
              <a:srgbClr val="22D3EE">
                <a:alpha val="16000"/>
              </a:srgbClr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" name="Dot"/>
          <p:cNvSpPr/>
          <p:nvPr/>
        </p:nvSpPr>
        <p:spPr>
          <a:xfrm>
            <a:off x="8394192" y="566928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548640" y="27432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1200" b="1" spc="300" dirty="0">
                <a:solidFill>
                  <a:srgbClr val="22D3EE"/>
                </a:solidFill>
                <a:latin typeface="Consolas" pitchFamily="34" charset="0"/>
                <a:cs typeface="Consolas"/>
              </a:rPr>
              <a:t>PROJECT • ROADMAP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486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cs typeface="Trebuchet MS"/>
              </a:rPr>
              <a:t>Future Enhancements</a:t>
            </a:r>
          </a:p>
        </p:txBody>
      </p:sp>
      <p:sp>
        <p:nvSpPr>
          <p:cNvPr id="6" name="Rule"/>
          <p:cNvSpPr/>
          <p:nvPr/>
        </p:nvSpPr>
        <p:spPr>
          <a:xfrm>
            <a:off x="548640" y="1243584"/>
            <a:ext cx="658368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548640" y="169164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1" name="num"/>
          <p:cNvSpPr/>
          <p:nvPr/>
        </p:nvSpPr>
        <p:spPr>
          <a:xfrm>
            <a:off x="694944" y="183794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1</a:t>
            </a:r>
          </a:p>
        </p:txBody>
      </p:sp>
      <p:sp>
        <p:nvSpPr>
          <p:cNvPr id="12" name="t"/>
          <p:cNvSpPr/>
          <p:nvPr/>
        </p:nvSpPr>
        <p:spPr>
          <a:xfrm>
            <a:off x="694944" y="233172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Build a frontend employee portal</a:t>
            </a:r>
          </a:p>
        </p:txBody>
      </p:sp>
      <p:sp>
        <p:nvSpPr>
          <p:cNvPr id="13" name="Arrow"/>
          <p:cNvSpPr/>
          <p:nvPr/>
        </p:nvSpPr>
        <p:spPr>
          <a:xfrm>
            <a:off x="2459736" y="2290572"/>
            <a:ext cx="128016" cy="128016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2596896" y="169164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5" name="num"/>
          <p:cNvSpPr/>
          <p:nvPr/>
        </p:nvSpPr>
        <p:spPr>
          <a:xfrm>
            <a:off x="2743200" y="183794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2</a:t>
            </a:r>
          </a:p>
        </p:txBody>
      </p:sp>
      <p:sp>
        <p:nvSpPr>
          <p:cNvPr id="16" name="t"/>
          <p:cNvSpPr/>
          <p:nvPr/>
        </p:nvSpPr>
        <p:spPr>
          <a:xfrm>
            <a:off x="2743200" y="233172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Add user login &amp; authentication</a:t>
            </a:r>
          </a:p>
        </p:txBody>
      </p:sp>
      <p:sp>
        <p:nvSpPr>
          <p:cNvPr id="17" name="Arrow"/>
          <p:cNvSpPr/>
          <p:nvPr/>
        </p:nvSpPr>
        <p:spPr>
          <a:xfrm>
            <a:off x="4507992" y="2290572"/>
            <a:ext cx="128016" cy="128016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8" name="Card"/>
          <p:cNvSpPr/>
          <p:nvPr/>
        </p:nvSpPr>
        <p:spPr>
          <a:xfrm>
            <a:off x="4645152" y="169164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9" name="num"/>
          <p:cNvSpPr/>
          <p:nvPr/>
        </p:nvSpPr>
        <p:spPr>
          <a:xfrm>
            <a:off x="4791456" y="183794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3</a:t>
            </a:r>
          </a:p>
        </p:txBody>
      </p:sp>
      <p:sp>
        <p:nvSpPr>
          <p:cNvPr id="20" name="t"/>
          <p:cNvSpPr/>
          <p:nvPr/>
        </p:nvSpPr>
        <p:spPr>
          <a:xfrm>
            <a:off x="4791456" y="233172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Add role-based access control</a:t>
            </a:r>
          </a:p>
        </p:txBody>
      </p:sp>
      <p:sp>
        <p:nvSpPr>
          <p:cNvPr id="21" name="Arrow"/>
          <p:cNvSpPr/>
          <p:nvPr/>
        </p:nvSpPr>
        <p:spPr>
          <a:xfrm>
            <a:off x="6556248" y="2290572"/>
            <a:ext cx="128016" cy="128016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2" name="Card"/>
          <p:cNvSpPr/>
          <p:nvPr/>
        </p:nvSpPr>
        <p:spPr>
          <a:xfrm>
            <a:off x="6693408" y="169164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3" name="num"/>
          <p:cNvSpPr/>
          <p:nvPr/>
        </p:nvSpPr>
        <p:spPr>
          <a:xfrm>
            <a:off x="6839712" y="183794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4</a:t>
            </a:r>
          </a:p>
        </p:txBody>
      </p:sp>
      <p:sp>
        <p:nvSpPr>
          <p:cNvPr id="24" name="t"/>
          <p:cNvSpPr/>
          <p:nvPr/>
        </p:nvSpPr>
        <p:spPr>
          <a:xfrm>
            <a:off x="6839712" y="233172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Add more HR policy documents</a:t>
            </a:r>
          </a:p>
        </p:txBody>
      </p:sp>
      <p:sp>
        <p:nvSpPr>
          <p:cNvPr id="25" name="Card"/>
          <p:cNvSpPr/>
          <p:nvPr/>
        </p:nvSpPr>
        <p:spPr>
          <a:xfrm>
            <a:off x="548640" y="320040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26" name="num"/>
          <p:cNvSpPr/>
          <p:nvPr/>
        </p:nvSpPr>
        <p:spPr>
          <a:xfrm>
            <a:off x="694944" y="33467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5</a:t>
            </a:r>
          </a:p>
        </p:txBody>
      </p:sp>
      <p:sp>
        <p:nvSpPr>
          <p:cNvPr id="27" name="t"/>
          <p:cNvSpPr/>
          <p:nvPr/>
        </p:nvSpPr>
        <p:spPr>
          <a:xfrm>
            <a:off x="694944" y="384048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Improve Llama SQL accuracy</a:t>
            </a:r>
          </a:p>
        </p:txBody>
      </p:sp>
      <p:sp>
        <p:nvSpPr>
          <p:cNvPr id="28" name="Arrow"/>
          <p:cNvSpPr/>
          <p:nvPr/>
        </p:nvSpPr>
        <p:spPr>
          <a:xfrm>
            <a:off x="2459736" y="3799332"/>
            <a:ext cx="128016" cy="128016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29" name="Card"/>
          <p:cNvSpPr/>
          <p:nvPr/>
        </p:nvSpPr>
        <p:spPr>
          <a:xfrm>
            <a:off x="2596896" y="320040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0" name="num"/>
          <p:cNvSpPr/>
          <p:nvPr/>
        </p:nvSpPr>
        <p:spPr>
          <a:xfrm>
            <a:off x="2743200" y="33467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6</a:t>
            </a:r>
          </a:p>
        </p:txBody>
      </p:sp>
      <p:sp>
        <p:nvSpPr>
          <p:cNvPr id="31" name="t"/>
          <p:cNvSpPr/>
          <p:nvPr/>
        </p:nvSpPr>
        <p:spPr>
          <a:xfrm>
            <a:off x="2743200" y="384048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Add dashboard charts</a:t>
            </a:r>
          </a:p>
        </p:txBody>
      </p:sp>
      <p:sp>
        <p:nvSpPr>
          <p:cNvPr id="32" name="Arrow"/>
          <p:cNvSpPr/>
          <p:nvPr/>
        </p:nvSpPr>
        <p:spPr>
          <a:xfrm>
            <a:off x="4507992" y="3799332"/>
            <a:ext cx="128016" cy="128016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3" name="Card"/>
          <p:cNvSpPr/>
          <p:nvPr/>
        </p:nvSpPr>
        <p:spPr>
          <a:xfrm>
            <a:off x="4645152" y="320040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4" name="num"/>
          <p:cNvSpPr/>
          <p:nvPr/>
        </p:nvSpPr>
        <p:spPr>
          <a:xfrm>
            <a:off x="4791456" y="33467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7</a:t>
            </a:r>
          </a:p>
        </p:txBody>
      </p:sp>
      <p:sp>
        <p:nvSpPr>
          <p:cNvPr id="35" name="t"/>
          <p:cNvSpPr/>
          <p:nvPr/>
        </p:nvSpPr>
        <p:spPr>
          <a:xfrm>
            <a:off x="4791456" y="384048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Deploy to the cloud</a:t>
            </a:r>
          </a:p>
        </p:txBody>
      </p:sp>
      <p:sp>
        <p:nvSpPr>
          <p:cNvPr id="36" name="Arrow"/>
          <p:cNvSpPr/>
          <p:nvPr/>
        </p:nvSpPr>
        <p:spPr>
          <a:xfrm>
            <a:off x="6556248" y="3799332"/>
            <a:ext cx="128016" cy="128016"/>
          </a:xfrm>
          <a:prstGeom prst="rightArrow">
            <a:avLst>
              <a:gd name="adj1" fmla="val 50000"/>
              <a:gd name="adj2" fmla="val 5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37" name="Card"/>
          <p:cNvSpPr/>
          <p:nvPr/>
        </p:nvSpPr>
        <p:spPr>
          <a:xfrm>
            <a:off x="6693408" y="3200400"/>
            <a:ext cx="1901952" cy="1325880"/>
          </a:xfrm>
          <a:prstGeom prst="roundRect">
            <a:avLst>
              <a:gd name="adj" fmla="val 9000"/>
            </a:avLst>
          </a:prstGeom>
          <a:solidFill>
            <a:srgbClr val="0E1E3F"/>
          </a:solidFill>
          <a:ln w="9525">
            <a:solidFill>
              <a:srgbClr val="2A4A82"/>
            </a:solidFill>
          </a:ln>
        </p:spPr>
        <p:txBody>
          <a:bodyPr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38" name="num"/>
          <p:cNvSpPr/>
          <p:nvPr/>
        </p:nvSpPr>
        <p:spPr>
          <a:xfrm>
            <a:off x="6839712" y="33467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square" lIns="128016" tIns="0" rIns="128016" bIns="0" rtlCol="0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A1733"/>
                </a:solidFill>
                <a:latin typeface="Trebuchet MS" pitchFamily="34" charset="0"/>
                <a:cs typeface="Trebuchet MS"/>
              </a:rPr>
              <a:t>8</a:t>
            </a:r>
          </a:p>
        </p:txBody>
      </p:sp>
      <p:sp>
        <p:nvSpPr>
          <p:cNvPr id="39" name="t"/>
          <p:cNvSpPr/>
          <p:nvPr/>
        </p:nvSpPr>
        <p:spPr>
          <a:xfrm>
            <a:off x="6839712" y="3840480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6EEFF"/>
                </a:solidFill>
                <a:latin typeface="Trebuchet MS" pitchFamily="34" charset="0"/>
                <a:cs typeface="Trebuchet MS"/>
              </a:rPr>
              <a:t>Add logging &amp; monitoring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901</Words>
  <Application>Microsoft Office PowerPoint</Application>
  <PresentationFormat>On-screen Show (16:9)</PresentationFormat>
  <Paragraphs>318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Adhiraj Singh Chauhan</dc:creator>
  <cp:lastModifiedBy>Adhiraj Singh Chauhan</cp:lastModifiedBy>
  <cp:revision>1</cp:revision>
  <dcterms:created xsi:type="dcterms:W3CDTF">2026-06-27T15:33:13Z</dcterms:created>
  <dcterms:modified xsi:type="dcterms:W3CDTF">2026-06-27T16:51:13Z</dcterms:modified>
</cp:coreProperties>
</file>